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explain the name. Go straight to the problem on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 Land the 'losing people between screening and diagnosis' line, then the sputum-sample framing, that sets up everything else.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 Land on step 3, the abstention band is what signals maturity.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left-hand film's upper-zone heatmap. Then the third column: a missed TB case. Volunteering the failure is stronger than hiding it, and a judge will ask about false negatives anyway.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The two augmentation decisions are your credibility here. Lead the metric with the interval, not the point estimate.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 The key beat: it CAN'T see the image, so it has nothing to hallucinate from. Then: we show the judge the evidence block.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Do NOT lead with 0.945. Lead with the interval and the story of the 138-image run.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 SLOW DOWN. AUROC 0.945 to 0.899, but specificity 0.885 to 0.225. Sixty-two of eighty healthy people. Pause. Then: 'the pooled number is the one that would have hurt people.'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This is a deployment checklist item that came out of measurement, no other team will have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seconds. NIH ChestX-ray14, third site, general population. It flags 46% of normal films there. No threshold fixes a broken ranking.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self-correction plays very well, volunteer it. Judges rarely hear a team say 'the experiment proved us wrong'.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 Two points: the pipeline extended to a new disease by swapping data, and the harder task produced an honestly worse number (0.714 vs 0.945) with far more abstention (87% vs 25%). If asked about cancer: no cancer label, no stage, it detects the finding that sends you for a 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 This generalises the central finding from 'TB across two sites' to 'any model across any source'. The green dots against the blue threshold lines are the whole story: cross-applied, the average HEALTHY chest scores above threshold.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and a good slide to cut first if short on time. The story: we tried a random web X-ray, got a meaningless score, and built the guard that catches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 The same weights give 0.3% PPV in the general population and 23% in a prison. Being explicit about where it should NOT go reads as maturity.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here or on the pneumonia demo case. Never close on the accuracy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1170432"/>
            <a:ext cx="10908792" cy="3063240"/>
          </a:xfrm>
          <a:prstGeom prst="roundRect">
            <a:avLst>
              <a:gd name="adj" fmla="val 4000"/>
            </a:avLst>
          </a:prstGeom>
          <a:solidFill>
            <a:srgbClr val="131C27"/>
          </a:solidFill>
          <a:ln w="15875">
            <a:solidFill>
              <a:srgbClr val="1E3A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481328"/>
            <a:ext cx="10058400" cy="292608"/>
          </a:xfrm>
          <a:prstGeom prst="rect">
            <a:avLst/>
          </a:prstGeom>
          <a:noFill/>
        </p:spPr>
        <p:txBody>
          <a:bodyPr wrap="square" lIns="0" rIns="0" tIns="0" bIns="0" anchor="t">
            <a:spAutoFit/>
          </a:bodyPr>
          <a:lstStyle/>
          <a:p>
            <a:pPr algn="l">
              <a:lnSpc>
                <a:spcPct val="100000"/>
              </a:lnSpc>
            </a:pPr>
            <a:r>
              <a:rPr sz="1200" b="1" i="0">
                <a:solidFill>
                  <a:srgbClr val="22D3EE"/>
                </a:solidFill>
                <a:latin typeface="Calibri"/>
              </a:rPr>
              <a:t>CHEST RADIOGRAPH SCREENING TRIAGE</a:t>
            </a:r>
          </a:p>
        </p:txBody>
      </p:sp>
      <p:sp>
        <p:nvSpPr>
          <p:cNvPr id="5" name="TextBox 4"/>
          <p:cNvSpPr txBox="1"/>
          <p:nvPr/>
        </p:nvSpPr>
        <p:spPr>
          <a:xfrm>
            <a:off x="1051560" y="1810512"/>
            <a:ext cx="10058400" cy="1143000"/>
          </a:xfrm>
          <a:prstGeom prst="rect">
            <a:avLst/>
          </a:prstGeom>
          <a:noFill/>
        </p:spPr>
        <p:txBody>
          <a:bodyPr wrap="square" lIns="0" rIns="0" tIns="0" bIns="0" anchor="t">
            <a:spAutoFit/>
          </a:bodyPr>
          <a:lstStyle/>
          <a:p>
            <a:pPr algn="l">
              <a:lnSpc>
                <a:spcPct val="95000"/>
              </a:lnSpc>
            </a:pPr>
            <a:r>
              <a:rPr sz="4600" b="1" i="0">
                <a:solidFill>
                  <a:srgbClr val="E8EEF6"/>
                </a:solidFill>
                <a:latin typeface="Cambria"/>
              </a:rPr>
              <a:t>Dhanvantari Vision</a:t>
            </a:r>
          </a:p>
        </p:txBody>
      </p:sp>
      <p:sp>
        <p:nvSpPr>
          <p:cNvPr id="6" name="TextBox 5"/>
          <p:cNvSpPr txBox="1"/>
          <p:nvPr/>
        </p:nvSpPr>
        <p:spPr>
          <a:xfrm>
            <a:off x="1051560" y="2907792"/>
            <a:ext cx="9509760" cy="1005840"/>
          </a:xfrm>
          <a:prstGeom prst="rect">
            <a:avLst/>
          </a:prstGeom>
          <a:noFill/>
        </p:spPr>
        <p:txBody>
          <a:bodyPr wrap="square" lIns="0" rIns="0" tIns="0" bIns="0" anchor="t">
            <a:spAutoFit/>
          </a:bodyPr>
          <a:lstStyle/>
          <a:p>
            <a:pPr algn="l">
              <a:lnSpc>
                <a:spcPct val="130000"/>
              </a:lnSpc>
            </a:pPr>
            <a:r>
              <a:rPr sz="1800" b="0" i="0">
                <a:solidFill>
                  <a:srgbClr val="E8EEF6"/>
                </a:solidFill>
                <a:latin typeface="Calibri"/>
              </a:rPr>
              <a:t>A tuberculosis screening tool, and an honest map of where it stops working.</a:t>
            </a:r>
          </a:p>
          <a:p>
            <a:pPr algn="l">
              <a:lnSpc>
                <a:spcPct val="130000"/>
              </a:lnSpc>
            </a:pPr>
            <a:r>
              <a:rPr sz="1400" b="0" i="0">
                <a:solidFill>
                  <a:srgbClr val="8B9CB0"/>
                </a:solidFill>
                <a:latin typeface="Calibri"/>
              </a:rPr>
              <a:t>Built in a day on a laptop GPU. Every number measured, with confidence intervals.</a:t>
            </a:r>
          </a:p>
        </p:txBody>
      </p:sp>
      <p:sp>
        <p:nvSpPr>
          <p:cNvPr id="7" name="TextBox 6"/>
          <p:cNvSpPr txBox="1"/>
          <p:nvPr/>
        </p:nvSpPr>
        <p:spPr>
          <a:xfrm>
            <a:off x="868680" y="4617720"/>
            <a:ext cx="3383280" cy="658368"/>
          </a:xfrm>
          <a:prstGeom prst="rect">
            <a:avLst/>
          </a:prstGeom>
          <a:noFill/>
        </p:spPr>
        <p:txBody>
          <a:bodyPr wrap="square" lIns="0" rIns="0" tIns="0" bIns="0" anchor="t">
            <a:spAutoFit/>
          </a:bodyPr>
          <a:lstStyle/>
          <a:p>
            <a:pPr algn="l">
              <a:lnSpc>
                <a:spcPct val="90000"/>
              </a:lnSpc>
            </a:pPr>
            <a:r>
              <a:rPr sz="4400" b="1" i="0">
                <a:solidFill>
                  <a:srgbClr val="22D3EE"/>
                </a:solidFill>
                <a:latin typeface="Calibri"/>
              </a:rPr>
              <a:t>0.945</a:t>
            </a:r>
          </a:p>
        </p:txBody>
      </p:sp>
      <p:sp>
        <p:nvSpPr>
          <p:cNvPr id="8" name="TextBox 7"/>
          <p:cNvSpPr txBox="1"/>
          <p:nvPr/>
        </p:nvSpPr>
        <p:spPr>
          <a:xfrm>
            <a:off x="868680" y="5239512"/>
            <a:ext cx="3383280" cy="548640"/>
          </a:xfrm>
          <a:prstGeom prst="rect">
            <a:avLst/>
          </a:prstGeom>
          <a:noFill/>
        </p:spPr>
        <p:txBody>
          <a:bodyPr wrap="square" lIns="0" rIns="0" tIns="0" bIns="0" anchor="t">
            <a:spAutoFit/>
          </a:bodyPr>
          <a:lstStyle/>
          <a:p>
            <a:pPr algn="l">
              <a:lnSpc>
                <a:spcPct val="110000"/>
              </a:lnSpc>
            </a:pPr>
            <a:r>
              <a:rPr sz="1100" b="0" i="0">
                <a:solidFill>
                  <a:srgbClr val="8B9CB0"/>
                </a:solidFill>
                <a:latin typeface="Calibri"/>
              </a:rPr>
              <a:t>AUROC, held-out</a:t>
            </a:r>
          </a:p>
        </p:txBody>
      </p:sp>
      <p:sp>
        <p:nvSpPr>
          <p:cNvPr id="9" name="TextBox 8"/>
          <p:cNvSpPr txBox="1"/>
          <p:nvPr/>
        </p:nvSpPr>
        <p:spPr>
          <a:xfrm>
            <a:off x="4526280" y="4617720"/>
            <a:ext cx="3383280" cy="658368"/>
          </a:xfrm>
          <a:prstGeom prst="rect">
            <a:avLst/>
          </a:prstGeom>
          <a:noFill/>
        </p:spPr>
        <p:txBody>
          <a:bodyPr wrap="square" lIns="0" rIns="0" tIns="0" bIns="0" anchor="t">
            <a:spAutoFit/>
          </a:bodyPr>
          <a:lstStyle/>
          <a:p>
            <a:pPr algn="l">
              <a:lnSpc>
                <a:spcPct val="90000"/>
              </a:lnSpc>
            </a:pPr>
            <a:r>
              <a:rPr sz="4400" b="1" i="0">
                <a:solidFill>
                  <a:srgbClr val="F87171"/>
                </a:solidFill>
                <a:latin typeface="Calibri"/>
              </a:rPr>
              <a:t>0.579</a:t>
            </a:r>
          </a:p>
        </p:txBody>
      </p:sp>
      <p:sp>
        <p:nvSpPr>
          <p:cNvPr id="10" name="TextBox 9"/>
          <p:cNvSpPr txBox="1"/>
          <p:nvPr/>
        </p:nvSpPr>
        <p:spPr>
          <a:xfrm>
            <a:off x="4526280" y="5239512"/>
            <a:ext cx="3383280" cy="548640"/>
          </a:xfrm>
          <a:prstGeom prst="rect">
            <a:avLst/>
          </a:prstGeom>
          <a:noFill/>
        </p:spPr>
        <p:txBody>
          <a:bodyPr wrap="square" lIns="0" rIns="0" tIns="0" bIns="0" anchor="t">
            <a:spAutoFit/>
          </a:bodyPr>
          <a:lstStyle/>
          <a:p>
            <a:pPr algn="l">
              <a:lnSpc>
                <a:spcPct val="110000"/>
              </a:lnSpc>
            </a:pPr>
            <a:r>
              <a:rPr sz="1100" b="0" i="0">
                <a:solidFill>
                  <a:srgbClr val="8B9CB0"/>
                </a:solidFill>
                <a:latin typeface="Calibri"/>
              </a:rPr>
              <a:t>AUROC at a third site</a:t>
            </a:r>
          </a:p>
        </p:txBody>
      </p:sp>
      <p:sp>
        <p:nvSpPr>
          <p:cNvPr id="11" name="TextBox 10"/>
          <p:cNvSpPr txBox="1"/>
          <p:nvPr/>
        </p:nvSpPr>
        <p:spPr>
          <a:xfrm>
            <a:off x="8183879" y="4617720"/>
            <a:ext cx="3383280" cy="658368"/>
          </a:xfrm>
          <a:prstGeom prst="rect">
            <a:avLst/>
          </a:prstGeom>
          <a:noFill/>
        </p:spPr>
        <p:txBody>
          <a:bodyPr wrap="square" lIns="0" rIns="0" tIns="0" bIns="0" anchor="t">
            <a:spAutoFit/>
          </a:bodyPr>
          <a:lstStyle/>
          <a:p>
            <a:pPr algn="l">
              <a:lnSpc>
                <a:spcPct val="90000"/>
              </a:lnSpc>
            </a:pPr>
            <a:r>
              <a:rPr sz="4400" b="1" i="0">
                <a:solidFill>
                  <a:srgbClr val="38BDF8"/>
                </a:solidFill>
                <a:latin typeface="Calibri"/>
              </a:rPr>
              <a:t>101s</a:t>
            </a:r>
          </a:p>
        </p:txBody>
      </p:sp>
      <p:sp>
        <p:nvSpPr>
          <p:cNvPr id="12" name="TextBox 11"/>
          <p:cNvSpPr txBox="1"/>
          <p:nvPr/>
        </p:nvSpPr>
        <p:spPr>
          <a:xfrm>
            <a:off x="8183879" y="5239512"/>
            <a:ext cx="3383280" cy="548640"/>
          </a:xfrm>
          <a:prstGeom prst="rect">
            <a:avLst/>
          </a:prstGeom>
          <a:noFill/>
        </p:spPr>
        <p:txBody>
          <a:bodyPr wrap="square" lIns="0" rIns="0" tIns="0" bIns="0" anchor="t">
            <a:spAutoFit/>
          </a:bodyPr>
          <a:lstStyle/>
          <a:p>
            <a:pPr algn="l">
              <a:lnSpc>
                <a:spcPct val="110000"/>
              </a:lnSpc>
            </a:pPr>
            <a:r>
              <a:rPr sz="1100" b="0" i="0">
                <a:solidFill>
                  <a:srgbClr val="8B9CB0"/>
                </a:solidFill>
                <a:latin typeface="Calibri"/>
              </a:rPr>
              <a:t>to train on an RTX 3050</a:t>
            </a:r>
          </a:p>
        </p:txBody>
      </p:sp>
      <p:sp>
        <p:nvSpPr>
          <p:cNvPr id="13" name="TextBox 12"/>
          <p:cNvSpPr txBox="1"/>
          <p:nvPr/>
        </p:nvSpPr>
        <p:spPr>
          <a:xfrm>
            <a:off x="640080" y="6364224"/>
            <a:ext cx="10881360" cy="310896"/>
          </a:xfrm>
          <a:prstGeom prst="rect">
            <a:avLst/>
          </a:prstGeom>
          <a:noFill/>
        </p:spPr>
        <p:txBody>
          <a:bodyPr wrap="square" lIns="0" rIns="0" tIns="0" bIns="0" anchor="t">
            <a:spAutoFit/>
          </a:bodyPr>
          <a:lstStyle/>
          <a:p>
            <a:pPr algn="l">
              <a:lnSpc>
                <a:spcPct val="100000"/>
              </a:lnSpc>
            </a:pPr>
            <a:r>
              <a:rPr sz="950" b="0" i="0">
                <a:solidFill>
                  <a:srgbClr val="5F7083"/>
                </a:solidFill>
                <a:latin typeface="Calibri"/>
              </a:rPr>
              <a:t>Research prototype on public NLM/NIH datasets · not a medical device · no clinical validation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lIns="0" rIns="0" tIns="0" bIns="0" anchor="t">
            <a:spAutoFit/>
          </a:bodyPr>
          <a:lstStyle/>
          <a:p>
            <a:pPr algn="l">
              <a:lnSpc>
                <a:spcPct val="100000"/>
              </a:lnSpc>
            </a:pPr>
            <a:r>
              <a:rPr sz="1100" b="1" i="0">
                <a:solidFill>
                  <a:srgbClr val="22D3EE"/>
                </a:solidFill>
                <a:latin typeface="Calibri"/>
              </a:rPr>
              <a:t>THE PROBLEM</a:t>
            </a:r>
          </a:p>
        </p:txBody>
      </p:sp>
      <p:sp>
        <p:nvSpPr>
          <p:cNvPr id="4" name="TextBox 3"/>
          <p:cNvSpPr txBox="1"/>
          <p:nvPr/>
        </p:nvSpPr>
        <p:spPr>
          <a:xfrm>
            <a:off x="640080" y="713232"/>
            <a:ext cx="10881360" cy="914400"/>
          </a:xfrm>
          <a:prstGeom prst="rect">
            <a:avLst/>
          </a:prstGeom>
          <a:noFill/>
        </p:spPr>
        <p:txBody>
          <a:bodyPr wrap="square" lIns="0" rIns="0" tIns="0" bIns="0" anchor="t">
            <a:spAutoFit/>
          </a:bodyPr>
          <a:lstStyle/>
          <a:p>
            <a:pPr algn="l">
              <a:lnSpc>
                <a:spcPct val="98000"/>
              </a:lnSpc>
            </a:pPr>
            <a:r>
              <a:rPr sz="3300" b="1" i="0">
                <a:solidFill>
                  <a:srgbClr val="E8EEF6"/>
                </a:solidFill>
                <a:latin typeface="Cambria"/>
              </a:rPr>
              <a:t>The bottleneck is readers, not machines</a:t>
            </a:r>
          </a:p>
        </p:txBody>
      </p:sp>
      <p:sp>
        <p:nvSpPr>
          <p:cNvPr id="5" name="Rounded Rectangle 4"/>
          <p:cNvSpPr/>
          <p:nvPr/>
        </p:nvSpPr>
        <p:spPr>
          <a:xfrm>
            <a:off x="640080" y="1920240"/>
            <a:ext cx="6309360" cy="3749039"/>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286000"/>
            <a:ext cx="5577840" cy="3108960"/>
          </a:xfrm>
          <a:prstGeom prst="rect">
            <a:avLst/>
          </a:prstGeom>
          <a:noFill/>
        </p:spPr>
        <p:txBody>
          <a:bodyPr wrap="square" lIns="0" rIns="0" tIns="0" bIns="0" anchor="t">
            <a:spAutoFit/>
          </a:bodyPr>
          <a:lstStyle/>
          <a:p>
            <a:pPr algn="l">
              <a:lnSpc>
                <a:spcPct val="135000"/>
              </a:lnSpc>
            </a:pPr>
            <a:r>
              <a:rPr sz="1500" b="0" i="0">
                <a:solidFill>
                  <a:srgbClr val="E8EEF6"/>
                </a:solidFill>
                <a:latin typeface="Calibri"/>
              </a:rPr>
              <a:t>Chest radiography is the frontline tool for TB screening. A mobile screening van images around 400 people a day, with no radiologist on board.</a:t>
            </a:r>
          </a:p>
          <a:p>
            <a:pPr algn="l">
              <a:lnSpc>
                <a:spcPct val="135000"/>
              </a:lnSpc>
            </a:pPr>
            <a:r>
              <a:rPr sz="1500" b="0" i="0">
                <a:solidFill>
                  <a:srgbClr val="E8EEF6"/>
                </a:solidFill>
                <a:latin typeface="Calibri"/>
              </a:rPr>
              <a:t>Films are batched to a city hospital. Reports come back in days to weeks. By then many of those people cannot be traced again.</a:t>
            </a:r>
          </a:p>
          <a:p>
            <a:pPr algn="l">
              <a:lnSpc>
                <a:spcPct val="135000"/>
              </a:lnSpc>
            </a:pPr>
            <a:r>
              <a:rPr sz="1500" b="1" i="0">
                <a:solidFill>
                  <a:srgbClr val="22D3EE"/>
                </a:solidFill>
                <a:latin typeface="Calibri"/>
              </a:rPr>
              <a:t>In TB programmes, losing people between screening and diagnosis kills more than reader accuracy does.</a:t>
            </a:r>
          </a:p>
        </p:txBody>
      </p:sp>
      <p:sp>
        <p:nvSpPr>
          <p:cNvPr id="7" name="Rounded Rectangle 6"/>
          <p:cNvSpPr/>
          <p:nvPr/>
        </p:nvSpPr>
        <p:spPr>
          <a:xfrm>
            <a:off x="7178040" y="1920240"/>
            <a:ext cx="4370832" cy="3749039"/>
          </a:xfrm>
          <a:prstGeom prst="roundRect">
            <a:avLst>
              <a:gd name="adj" fmla="val 4000"/>
            </a:avLst>
          </a:prstGeom>
          <a:solidFill>
            <a:srgbClr val="182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43800" y="2331720"/>
            <a:ext cx="3657600" cy="2377440"/>
          </a:xfrm>
          <a:prstGeom prst="rect">
            <a:avLst/>
          </a:prstGeom>
          <a:noFill/>
        </p:spPr>
        <p:txBody>
          <a:bodyPr wrap="square" lIns="0" rIns="0" tIns="0" bIns="0" anchor="t">
            <a:spAutoFit/>
          </a:bodyPr>
          <a:lstStyle/>
          <a:p>
            <a:pPr algn="l">
              <a:lnSpc>
                <a:spcPct val="130000"/>
              </a:lnSpc>
            </a:pPr>
            <a:r>
              <a:rPr sz="1600" b="0" i="1">
                <a:solidFill>
                  <a:srgbClr val="8B9CB0"/>
                </a:solidFill>
                <a:latin typeface="Calibri"/>
              </a:rPr>
              <a:t>So we did not try to beat a radiologist.</a:t>
            </a:r>
          </a:p>
          <a:p>
            <a:pPr algn="l">
              <a:lnSpc>
                <a:spcPct val="130000"/>
              </a:lnSpc>
            </a:pPr>
            <a:r>
              <a:rPr sz="1900" b="1" i="0">
                <a:solidFill>
                  <a:srgbClr val="E8EEF6"/>
                </a:solidFill>
                <a:latin typeface="Calibri"/>
              </a:rPr>
              <a:t>We built something that decides who gives a sputum sample before they leave the van.</a:t>
            </a:r>
          </a:p>
        </p:txBody>
      </p:sp>
      <p:sp>
        <p:nvSpPr>
          <p:cNvPr id="9" name="TextBox 8"/>
          <p:cNvSpPr txBox="1"/>
          <p:nvPr/>
        </p:nvSpPr>
        <p:spPr>
          <a:xfrm>
            <a:off x="7543800" y="4800600"/>
            <a:ext cx="3657600" cy="640080"/>
          </a:xfrm>
          <a:prstGeom prst="rect">
            <a:avLst/>
          </a:prstGeom>
          <a:noFill/>
        </p:spPr>
        <p:txBody>
          <a:bodyPr wrap="square" lIns="0" rIns="0" tIns="0" bIns="0" anchor="t">
            <a:spAutoFit/>
          </a:bodyPr>
          <a:lstStyle/>
          <a:p>
            <a:pPr algn="l">
              <a:lnSpc>
                <a:spcPct val="115000"/>
              </a:lnSpc>
            </a:pPr>
            <a:r>
              <a:rPr sz="1300" b="1" i="0">
                <a:solidFill>
                  <a:srgbClr val="FBBF24"/>
                </a:solidFill>
                <a:latin typeface="Calibri"/>
              </a:rPr>
              <a:t>A triage tool, not a diagnostic 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lIns="0" rIns="0" tIns="0" bIns="0" anchor="t">
            <a:spAutoFit/>
          </a:bodyPr>
          <a:lstStyle/>
          <a:p>
            <a:pPr algn="l">
              <a:lnSpc>
                <a:spcPct val="100000"/>
              </a:lnSpc>
            </a:pPr>
            <a:r>
              <a:rPr sz="1100" b="1" i="0">
                <a:solidFill>
                  <a:srgbClr val="22D3EE"/>
                </a:solidFill>
                <a:latin typeface="Calibri"/>
              </a:rPr>
              <a:t>HOW IT WORKS</a:t>
            </a:r>
          </a:p>
        </p:txBody>
      </p:sp>
      <p:sp>
        <p:nvSpPr>
          <p:cNvPr id="4" name="TextBox 3"/>
          <p:cNvSpPr txBox="1"/>
          <p:nvPr/>
        </p:nvSpPr>
        <p:spPr>
          <a:xfrm>
            <a:off x="640080" y="713232"/>
            <a:ext cx="10881360" cy="914400"/>
          </a:xfrm>
          <a:prstGeom prst="rect">
            <a:avLst/>
          </a:prstGeom>
          <a:noFill/>
        </p:spPr>
        <p:txBody>
          <a:bodyPr wrap="square" lIns="0" rIns="0" tIns="0" bIns="0" anchor="t">
            <a:spAutoFit/>
          </a:bodyPr>
          <a:lstStyle/>
          <a:p>
            <a:pPr algn="l">
              <a:lnSpc>
                <a:spcPct val="98000"/>
              </a:lnSpc>
            </a:pPr>
            <a:r>
              <a:rPr sz="3300" b="1" i="0">
                <a:solidFill>
                  <a:srgbClr val="E8EEF6"/>
                </a:solidFill>
                <a:latin typeface="Cambria"/>
              </a:rPr>
              <a:t>Four steps, one of which is saying “I don’t know”</a:t>
            </a:r>
          </a:p>
        </p:txBody>
      </p:sp>
      <p:sp>
        <p:nvSpPr>
          <p:cNvPr id="5" name="Rounded Rectangle 4"/>
          <p:cNvSpPr/>
          <p:nvPr/>
        </p:nvSpPr>
        <p:spPr>
          <a:xfrm>
            <a:off x="640080" y="1965960"/>
            <a:ext cx="2578608" cy="3200400"/>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2240280"/>
            <a:ext cx="475488" cy="47548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A0F16"/>
                </a:solidFill>
                <a:latin typeface="Calibri"/>
              </a:rPr>
              <a:t>1</a:t>
            </a:r>
          </a:p>
        </p:txBody>
      </p:sp>
      <p:sp>
        <p:nvSpPr>
          <p:cNvPr id="7" name="TextBox 6"/>
          <p:cNvSpPr txBox="1"/>
          <p:nvPr/>
        </p:nvSpPr>
        <p:spPr>
          <a:xfrm>
            <a:off x="914400" y="2907792"/>
            <a:ext cx="2057400" cy="365760"/>
          </a:xfrm>
          <a:prstGeom prst="rect">
            <a:avLst/>
          </a:prstGeom>
          <a:noFill/>
        </p:spPr>
        <p:txBody>
          <a:bodyPr wrap="square" lIns="0" rIns="0" tIns="0" bIns="0" anchor="t">
            <a:spAutoFit/>
          </a:bodyPr>
          <a:lstStyle/>
          <a:p>
            <a:pPr algn="l">
              <a:lnSpc>
                <a:spcPct val="115000"/>
              </a:lnSpc>
            </a:pPr>
            <a:r>
              <a:rPr sz="1700" b="1" i="0">
                <a:solidFill>
                  <a:srgbClr val="38BDF8"/>
                </a:solidFill>
                <a:latin typeface="Cambria"/>
              </a:rPr>
              <a:t>Preprocess</a:t>
            </a:r>
          </a:p>
        </p:txBody>
      </p:sp>
      <p:sp>
        <p:nvSpPr>
          <p:cNvPr id="8" name="TextBox 7"/>
          <p:cNvSpPr txBox="1"/>
          <p:nvPr/>
        </p:nvSpPr>
        <p:spPr>
          <a:xfrm>
            <a:off x="914400" y="3364992"/>
            <a:ext cx="2057400" cy="1600200"/>
          </a:xfrm>
          <a:prstGeom prst="rect">
            <a:avLst/>
          </a:prstGeom>
          <a:noFill/>
        </p:spPr>
        <p:txBody>
          <a:bodyPr wrap="square" lIns="0" rIns="0" tIns="0" bIns="0" anchor="t">
            <a:spAutoFit/>
          </a:bodyPr>
          <a:lstStyle/>
          <a:p>
            <a:pPr algn="l">
              <a:lnSpc>
                <a:spcPct val="125000"/>
              </a:lnSpc>
            </a:pPr>
            <a:r>
              <a:rPr sz="1200" b="0" i="0">
                <a:solidFill>
                  <a:srgbClr val="8B9CB0"/>
                </a:solidFill>
                <a:latin typeface="Calibri"/>
              </a:rPr>
              <a:t>Grayscale, CLAHE local-contrast normalisation, 512px. Partially normalises exposure between machines.</a:t>
            </a:r>
          </a:p>
        </p:txBody>
      </p:sp>
      <p:sp>
        <p:nvSpPr>
          <p:cNvPr id="9" name="Rounded Rectangle 8"/>
          <p:cNvSpPr/>
          <p:nvPr/>
        </p:nvSpPr>
        <p:spPr>
          <a:xfrm>
            <a:off x="3438144" y="1965960"/>
            <a:ext cx="2578608" cy="3200400"/>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712463" y="2240280"/>
            <a:ext cx="475488" cy="475488"/>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A0F16"/>
                </a:solidFill>
                <a:latin typeface="Calibri"/>
              </a:rPr>
              <a:t>2</a:t>
            </a:r>
          </a:p>
        </p:txBody>
      </p:sp>
      <p:sp>
        <p:nvSpPr>
          <p:cNvPr id="11" name="TextBox 10"/>
          <p:cNvSpPr txBox="1"/>
          <p:nvPr/>
        </p:nvSpPr>
        <p:spPr>
          <a:xfrm>
            <a:off x="3712463" y="2907792"/>
            <a:ext cx="2057400" cy="365760"/>
          </a:xfrm>
          <a:prstGeom prst="rect">
            <a:avLst/>
          </a:prstGeom>
          <a:noFill/>
        </p:spPr>
        <p:txBody>
          <a:bodyPr wrap="square" lIns="0" rIns="0" tIns="0" bIns="0" anchor="t">
            <a:spAutoFit/>
          </a:bodyPr>
          <a:lstStyle/>
          <a:p>
            <a:pPr algn="l">
              <a:lnSpc>
                <a:spcPct val="115000"/>
              </a:lnSpc>
            </a:pPr>
            <a:r>
              <a:rPr sz="1700" b="1" i="0">
                <a:solidFill>
                  <a:srgbClr val="22D3EE"/>
                </a:solidFill>
                <a:latin typeface="Cambria"/>
              </a:rPr>
              <a:t>Score</a:t>
            </a:r>
          </a:p>
        </p:txBody>
      </p:sp>
      <p:sp>
        <p:nvSpPr>
          <p:cNvPr id="12" name="TextBox 11"/>
          <p:cNvSpPr txBox="1"/>
          <p:nvPr/>
        </p:nvSpPr>
        <p:spPr>
          <a:xfrm>
            <a:off x="3712463" y="3364992"/>
            <a:ext cx="2057400" cy="1600200"/>
          </a:xfrm>
          <a:prstGeom prst="rect">
            <a:avLst/>
          </a:prstGeom>
          <a:noFill/>
        </p:spPr>
        <p:txBody>
          <a:bodyPr wrap="square" lIns="0" rIns="0" tIns="0" bIns="0" anchor="t">
            <a:spAutoFit/>
          </a:bodyPr>
          <a:lstStyle/>
          <a:p>
            <a:pPr algn="l">
              <a:lnSpc>
                <a:spcPct val="125000"/>
              </a:lnSpc>
            </a:pPr>
            <a:r>
              <a:rPr sz="1200" b="0" i="0">
                <a:solidFill>
                  <a:srgbClr val="8B9CB0"/>
                </a:solidFill>
                <a:latin typeface="Calibri"/>
              </a:rPr>
              <a:t>ResNet-18 fine-tuned on 800 real radiographs outputs one probability.</a:t>
            </a:r>
          </a:p>
        </p:txBody>
      </p:sp>
      <p:sp>
        <p:nvSpPr>
          <p:cNvPr id="13" name="Rounded Rectangle 12"/>
          <p:cNvSpPr/>
          <p:nvPr/>
        </p:nvSpPr>
        <p:spPr>
          <a:xfrm>
            <a:off x="6236208" y="1965960"/>
            <a:ext cx="2578608" cy="3200400"/>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10528" y="2240280"/>
            <a:ext cx="475488" cy="475488"/>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A0F16"/>
                </a:solidFill>
                <a:latin typeface="Calibri"/>
              </a:rPr>
              <a:t>3</a:t>
            </a:r>
          </a:p>
        </p:txBody>
      </p:sp>
      <p:sp>
        <p:nvSpPr>
          <p:cNvPr id="15" name="TextBox 14"/>
          <p:cNvSpPr txBox="1"/>
          <p:nvPr/>
        </p:nvSpPr>
        <p:spPr>
          <a:xfrm>
            <a:off x="6510528" y="2907792"/>
            <a:ext cx="2057400" cy="365760"/>
          </a:xfrm>
          <a:prstGeom prst="rect">
            <a:avLst/>
          </a:prstGeom>
          <a:noFill/>
        </p:spPr>
        <p:txBody>
          <a:bodyPr wrap="square" lIns="0" rIns="0" tIns="0" bIns="0" anchor="t">
            <a:spAutoFit/>
          </a:bodyPr>
          <a:lstStyle/>
          <a:p>
            <a:pPr algn="l">
              <a:lnSpc>
                <a:spcPct val="115000"/>
              </a:lnSpc>
            </a:pPr>
            <a:r>
              <a:rPr sz="1700" b="1" i="0">
                <a:solidFill>
                  <a:srgbClr val="FBBF24"/>
                </a:solidFill>
                <a:latin typeface="Cambria"/>
              </a:rPr>
              <a:t>Decide</a:t>
            </a:r>
          </a:p>
        </p:txBody>
      </p:sp>
      <p:sp>
        <p:nvSpPr>
          <p:cNvPr id="16" name="TextBox 15"/>
          <p:cNvSpPr txBox="1"/>
          <p:nvPr/>
        </p:nvSpPr>
        <p:spPr>
          <a:xfrm>
            <a:off x="6510528" y="3364992"/>
            <a:ext cx="2057400" cy="1600200"/>
          </a:xfrm>
          <a:prstGeom prst="rect">
            <a:avLst/>
          </a:prstGeom>
          <a:noFill/>
        </p:spPr>
        <p:txBody>
          <a:bodyPr wrap="square" lIns="0" rIns="0" tIns="0" bIns="0" anchor="t">
            <a:spAutoFit/>
          </a:bodyPr>
          <a:lstStyle/>
          <a:p>
            <a:pPr algn="l">
              <a:lnSpc>
                <a:spcPct val="125000"/>
              </a:lnSpc>
            </a:pPr>
            <a:r>
              <a:rPr sz="1200" b="0" i="0">
                <a:solidFill>
                  <a:srgbClr val="8B9CB0"/>
                </a:solidFill>
                <a:latin typeface="Calibri"/>
              </a:rPr>
              <a:t>Threshold tuned for 90% sensitivity, plus an abstention band: 25% of cases are routed to a human instead of guessed.</a:t>
            </a:r>
          </a:p>
        </p:txBody>
      </p:sp>
      <p:sp>
        <p:nvSpPr>
          <p:cNvPr id="17" name="Rounded Rectangle 16"/>
          <p:cNvSpPr/>
          <p:nvPr/>
        </p:nvSpPr>
        <p:spPr>
          <a:xfrm>
            <a:off x="9034272" y="1965960"/>
            <a:ext cx="2578608" cy="3200400"/>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308592" y="2240280"/>
            <a:ext cx="475488" cy="475488"/>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A0F16"/>
                </a:solidFill>
                <a:latin typeface="Calibri"/>
              </a:rPr>
              <a:t>4</a:t>
            </a:r>
          </a:p>
        </p:txBody>
      </p:sp>
      <p:sp>
        <p:nvSpPr>
          <p:cNvPr id="19" name="TextBox 18"/>
          <p:cNvSpPr txBox="1"/>
          <p:nvPr/>
        </p:nvSpPr>
        <p:spPr>
          <a:xfrm>
            <a:off x="9308592" y="2907792"/>
            <a:ext cx="2057400" cy="365760"/>
          </a:xfrm>
          <a:prstGeom prst="rect">
            <a:avLst/>
          </a:prstGeom>
          <a:noFill/>
        </p:spPr>
        <p:txBody>
          <a:bodyPr wrap="square" lIns="0" rIns="0" tIns="0" bIns="0" anchor="t">
            <a:spAutoFit/>
          </a:bodyPr>
          <a:lstStyle/>
          <a:p>
            <a:pPr algn="l">
              <a:lnSpc>
                <a:spcPct val="115000"/>
              </a:lnSpc>
            </a:pPr>
            <a:r>
              <a:rPr sz="1700" b="1" i="0">
                <a:solidFill>
                  <a:srgbClr val="A78BFA"/>
                </a:solidFill>
                <a:latin typeface="Cambria"/>
              </a:rPr>
              <a:t>Explain</a:t>
            </a:r>
          </a:p>
        </p:txBody>
      </p:sp>
      <p:sp>
        <p:nvSpPr>
          <p:cNvPr id="20" name="TextBox 19"/>
          <p:cNvSpPr txBox="1"/>
          <p:nvPr/>
        </p:nvSpPr>
        <p:spPr>
          <a:xfrm>
            <a:off x="9308592" y="3364992"/>
            <a:ext cx="2057400" cy="1600200"/>
          </a:xfrm>
          <a:prstGeom prst="rect">
            <a:avLst/>
          </a:prstGeom>
          <a:noFill/>
        </p:spPr>
        <p:txBody>
          <a:bodyPr wrap="square" lIns="0" rIns="0" tIns="0" bIns="0" anchor="t">
            <a:spAutoFit/>
          </a:bodyPr>
          <a:lstStyle/>
          <a:p>
            <a:pPr algn="l">
              <a:lnSpc>
                <a:spcPct val="125000"/>
              </a:lnSpc>
            </a:pPr>
            <a:r>
              <a:rPr sz="1200" b="0" i="0">
                <a:solidFill>
                  <a:srgbClr val="8B9CB0"/>
                </a:solidFill>
                <a:latin typeface="Calibri"/>
              </a:rPr>
              <a:t>Grad-CAM localises the finding; an LLM writes a clinical note using only the model's own numbers.</a:t>
            </a:r>
          </a:p>
        </p:txBody>
      </p:sp>
      <p:sp>
        <p:nvSpPr>
          <p:cNvPr id="21" name="Rounded Rectangle 20"/>
          <p:cNvSpPr/>
          <p:nvPr/>
        </p:nvSpPr>
        <p:spPr>
          <a:xfrm>
            <a:off x="640080" y="5413248"/>
            <a:ext cx="10908792" cy="749808"/>
          </a:xfrm>
          <a:prstGeom prst="roundRect">
            <a:avLst>
              <a:gd name="adj" fmla="val 4000"/>
            </a:avLst>
          </a:prstGeom>
          <a:solidFill>
            <a:srgbClr val="182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596128"/>
            <a:ext cx="10149840" cy="457200"/>
          </a:xfrm>
          <a:prstGeom prst="rect">
            <a:avLst/>
          </a:prstGeom>
          <a:noFill/>
        </p:spPr>
        <p:txBody>
          <a:bodyPr wrap="square" lIns="0" rIns="0" tIns="0" bIns="0" anchor="t">
            <a:spAutoFit/>
          </a:bodyPr>
          <a:lstStyle/>
          <a:p>
            <a:pPr algn="l">
              <a:lnSpc>
                <a:spcPct val="115000"/>
              </a:lnSpc>
            </a:pPr>
            <a:r>
              <a:rPr sz="1400" b="1" i="0">
                <a:solidFill>
                  <a:srgbClr val="E8EEF6"/>
                </a:solidFill>
                <a:latin typeface="Calibri"/>
              </a:rPr>
              <a:t>A screening tool that quietly guesses on an ambiguous film is dangerous. </a:t>
            </a:r>
            <a:r>
              <a:rPr sz="1400" b="0" i="0">
                <a:solidFill>
                  <a:srgbClr val="8B9CB0"/>
                </a:solidFill>
                <a:latin typeface="Calibri"/>
              </a:rPr>
              <a:t>Accuracy on the cases it does decide: 94.4%.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lIns="0" rIns="0" tIns="0" bIns="0" anchor="t">
            <a:spAutoFit/>
          </a:bodyPr>
          <a:lstStyle/>
          <a:p>
            <a:pPr algn="l">
              <a:lnSpc>
                <a:spcPct val="100000"/>
              </a:lnSpc>
            </a:pPr>
            <a:r>
              <a:rPr sz="1100" b="1" i="0">
                <a:solidFill>
                  <a:srgbClr val="22D3EE"/>
                </a:solidFill>
                <a:latin typeface="Calibri"/>
              </a:rPr>
              <a:t>REAL OUTPUT</a:t>
            </a:r>
          </a:p>
        </p:txBody>
      </p:sp>
      <p:sp>
        <p:nvSpPr>
          <p:cNvPr id="4" name="TextBox 3"/>
          <p:cNvSpPr txBox="1"/>
          <p:nvPr/>
        </p:nvSpPr>
        <p:spPr>
          <a:xfrm>
            <a:off x="640080" y="713232"/>
            <a:ext cx="10881360" cy="914400"/>
          </a:xfrm>
          <a:prstGeom prst="rect">
            <a:avLst/>
          </a:prstGeom>
          <a:noFill/>
        </p:spPr>
        <p:txBody>
          <a:bodyPr wrap="square" lIns="0" rIns="0" tIns="0" bIns="0" anchor="t">
            <a:spAutoFit/>
          </a:bodyPr>
          <a:lstStyle/>
          <a:p>
            <a:pPr algn="l">
              <a:lnSpc>
                <a:spcPct val="98000"/>
              </a:lnSpc>
            </a:pPr>
            <a:r>
              <a:rPr sz="3300" b="1" i="0">
                <a:solidFill>
                  <a:srgbClr val="E8EEF6"/>
                </a:solidFill>
                <a:latin typeface="Cambria"/>
              </a:rPr>
              <a:t>Three held-out films: two right, one wrong</a:t>
            </a:r>
          </a:p>
        </p:txBody>
      </p:sp>
      <p:pic>
        <p:nvPicPr>
          <p:cNvPr id="5" name="Picture 4" descr="fig_cases.png"/>
          <p:cNvPicPr>
            <a:picLocks noChangeAspect="1"/>
          </p:cNvPicPr>
          <p:nvPr/>
        </p:nvPicPr>
        <p:blipFill>
          <a:blip r:embed="rId2"/>
          <a:stretch>
            <a:fillRect/>
          </a:stretch>
        </p:blipFill>
        <p:spPr>
          <a:xfrm>
            <a:off x="1483105" y="1572768"/>
            <a:ext cx="6132069" cy="4617720"/>
          </a:xfrm>
          <a:prstGeom prst="rect">
            <a:avLst/>
          </a:prstGeom>
        </p:spPr>
      </p:pic>
      <p:sp>
        <p:nvSpPr>
          <p:cNvPr id="6" name="Rounded Rectangle 5"/>
          <p:cNvSpPr/>
          <p:nvPr/>
        </p:nvSpPr>
        <p:spPr>
          <a:xfrm>
            <a:off x="8686800" y="1691640"/>
            <a:ext cx="2862072" cy="2542032"/>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0" y="1938528"/>
            <a:ext cx="2377440" cy="2468880"/>
          </a:xfrm>
          <a:prstGeom prst="rect">
            <a:avLst/>
          </a:prstGeom>
          <a:noFill/>
        </p:spPr>
        <p:txBody>
          <a:bodyPr wrap="square" lIns="0" rIns="0" tIns="0" bIns="0" anchor="t">
            <a:spAutoFit/>
          </a:bodyPr>
          <a:lstStyle/>
          <a:p>
            <a:pPr algn="l">
              <a:lnSpc>
                <a:spcPct val="128000"/>
              </a:lnSpc>
            </a:pPr>
            <a:r>
              <a:rPr sz="1450" b="1" i="0">
                <a:solidFill>
                  <a:srgbClr val="22D3EE"/>
                </a:solidFill>
                <a:latin typeface="Calibri"/>
              </a:rPr>
              <a:t>Grad-CAM is not decoration.</a:t>
            </a:r>
          </a:p>
          <a:p>
            <a:pPr algn="l">
              <a:lnSpc>
                <a:spcPct val="128000"/>
              </a:lnSpc>
            </a:pPr>
            <a:r>
              <a:rPr sz="1150" b="0" i="0">
                <a:solidFill>
                  <a:srgbClr val="8B9CB0"/>
                </a:solidFill>
                <a:latin typeface="Calibri"/>
              </a:rPr>
              <a:t>Chest X-ray models are notorious for shortcut learning, one published case “detected” collapsed lung by spotting the drain inserted to treat it.</a:t>
            </a:r>
          </a:p>
          <a:p>
            <a:pPr algn="l">
              <a:lnSpc>
                <a:spcPct val="128000"/>
              </a:lnSpc>
            </a:pPr>
            <a:r>
              <a:rPr sz="1150" b="0" i="0">
                <a:solidFill>
                  <a:srgbClr val="8B9CB0"/>
                </a:solidFill>
                <a:latin typeface="Calibri"/>
              </a:rPr>
              <a:t>Every case shows it, so this can be checked rather than assumed.</a:t>
            </a:r>
          </a:p>
        </p:txBody>
      </p:sp>
      <p:sp>
        <p:nvSpPr>
          <p:cNvPr id="8" name="Rounded Rectangle 7"/>
          <p:cNvSpPr/>
          <p:nvPr/>
        </p:nvSpPr>
        <p:spPr>
          <a:xfrm>
            <a:off x="8686800" y="4434840"/>
            <a:ext cx="2862072" cy="1572768"/>
          </a:xfrm>
          <a:prstGeom prst="roundRect">
            <a:avLst>
              <a:gd name="adj" fmla="val 4000"/>
            </a:avLst>
          </a:prstGeom>
          <a:solidFill>
            <a:srgbClr val="131C27"/>
          </a:solidFill>
          <a:ln w="15875">
            <a:solidFill>
              <a:srgbClr val="5A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0" y="4663440"/>
            <a:ext cx="2377440" cy="1143000"/>
          </a:xfrm>
          <a:prstGeom prst="rect">
            <a:avLst/>
          </a:prstGeom>
          <a:noFill/>
        </p:spPr>
        <p:txBody>
          <a:bodyPr wrap="square" lIns="0" rIns="0" tIns="0" bIns="0" anchor="t">
            <a:spAutoFit/>
          </a:bodyPr>
          <a:lstStyle/>
          <a:p>
            <a:pPr algn="l">
              <a:lnSpc>
                <a:spcPct val="125000"/>
              </a:lnSpc>
            </a:pPr>
            <a:r>
              <a:rPr sz="1300" b="1" i="0">
                <a:solidFill>
                  <a:srgbClr val="F87171"/>
                </a:solidFill>
                <a:latin typeface="Calibri"/>
              </a:rPr>
              <a:t>We show the misses too.</a:t>
            </a:r>
          </a:p>
          <a:p>
            <a:pPr algn="l">
              <a:lnSpc>
                <a:spcPct val="125000"/>
              </a:lnSpc>
            </a:pPr>
            <a:r>
              <a:rPr sz="1150" b="0" i="0">
                <a:solidFill>
                  <a:srgbClr val="8B9CB0"/>
                </a:solidFill>
                <a:latin typeface="Calibri"/>
              </a:rPr>
              <a:t>10 of 59 TB films are missed. They sit at the bottom of the queue, the dangerous failure for a screening tool.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lIns="0" rIns="0" tIns="0" bIns="0" anchor="t">
            <a:spAutoFit/>
          </a:bodyPr>
          <a:lstStyle/>
          <a:p>
            <a:pPr algn="l">
              <a:lnSpc>
                <a:spcPct val="100000"/>
              </a:lnSpc>
            </a:pPr>
            <a:r>
              <a:rPr sz="1100" b="1" i="0">
                <a:solidFill>
                  <a:srgbClr val="22D3EE"/>
                </a:solidFill>
                <a:latin typeface="Calibri"/>
              </a:rPr>
              <a:t>STAGE 1, THE TRAINED MODEL</a:t>
            </a:r>
          </a:p>
        </p:txBody>
      </p:sp>
      <p:sp>
        <p:nvSpPr>
          <p:cNvPr id="4" name="TextBox 3"/>
          <p:cNvSpPr txBox="1"/>
          <p:nvPr/>
        </p:nvSpPr>
        <p:spPr>
          <a:xfrm>
            <a:off x="640080" y="713232"/>
            <a:ext cx="10881360" cy="914400"/>
          </a:xfrm>
          <a:prstGeom prst="rect">
            <a:avLst/>
          </a:prstGeom>
          <a:noFill/>
        </p:spPr>
        <p:txBody>
          <a:bodyPr wrap="square" lIns="0" rIns="0" tIns="0" bIns="0" anchor="t">
            <a:spAutoFit/>
          </a:bodyPr>
          <a:lstStyle/>
          <a:p>
            <a:pPr algn="l">
              <a:lnSpc>
                <a:spcPct val="98000"/>
              </a:lnSpc>
            </a:pPr>
            <a:r>
              <a:rPr sz="3300" b="1" i="0">
                <a:solidFill>
                  <a:srgbClr val="E8EEF6"/>
                </a:solidFill>
                <a:latin typeface="Cambria"/>
              </a:rPr>
              <a:t>A real model, trained locally, reported with intervals</a:t>
            </a:r>
          </a:p>
        </p:txBody>
      </p:sp>
      <p:pic>
        <p:nvPicPr>
          <p:cNvPr id="5" name="Picture 4" descr="fig_roc.png"/>
          <p:cNvPicPr>
            <a:picLocks noChangeAspect="1"/>
          </p:cNvPicPr>
          <p:nvPr/>
        </p:nvPicPr>
        <p:blipFill>
          <a:blip r:embed="rId2"/>
          <a:stretch>
            <a:fillRect/>
          </a:stretch>
        </p:blipFill>
        <p:spPr>
          <a:xfrm>
            <a:off x="5989320" y="1788462"/>
            <a:ext cx="5577840" cy="4149754"/>
          </a:xfrm>
          <a:prstGeom prst="rect">
            <a:avLst/>
          </a:prstGeom>
        </p:spPr>
      </p:pic>
      <p:sp>
        <p:nvSpPr>
          <p:cNvPr id="6" name="Rounded Rectangle 5"/>
          <p:cNvSpPr/>
          <p:nvPr/>
        </p:nvSpPr>
        <p:spPr>
          <a:xfrm>
            <a:off x="640080" y="1600200"/>
            <a:ext cx="5120640" cy="3200400"/>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10512"/>
            <a:ext cx="1920240" cy="301752"/>
          </a:xfrm>
          <a:prstGeom prst="rect">
            <a:avLst/>
          </a:prstGeom>
          <a:noFill/>
        </p:spPr>
        <p:txBody>
          <a:bodyPr wrap="square" lIns="0" rIns="0" tIns="0" bIns="0" anchor="t">
            <a:spAutoFit/>
          </a:bodyPr>
          <a:lstStyle/>
          <a:p>
            <a:pPr algn="l">
              <a:lnSpc>
                <a:spcPct val="115000"/>
              </a:lnSpc>
            </a:pPr>
            <a:r>
              <a:rPr sz="1150" b="0" i="0">
                <a:solidFill>
                  <a:srgbClr val="8B9CB0"/>
                </a:solidFill>
                <a:latin typeface="Calibri"/>
              </a:rPr>
              <a:t>Backbone</a:t>
            </a:r>
          </a:p>
        </p:txBody>
      </p:sp>
      <p:sp>
        <p:nvSpPr>
          <p:cNvPr id="8" name="TextBox 7"/>
          <p:cNvSpPr txBox="1"/>
          <p:nvPr/>
        </p:nvSpPr>
        <p:spPr>
          <a:xfrm>
            <a:off x="2834640" y="1810512"/>
            <a:ext cx="2834640" cy="301752"/>
          </a:xfrm>
          <a:prstGeom prst="rect">
            <a:avLst/>
          </a:prstGeom>
          <a:noFill/>
        </p:spPr>
        <p:txBody>
          <a:bodyPr wrap="square" lIns="0" rIns="0" tIns="0" bIns="0" anchor="t">
            <a:spAutoFit/>
          </a:bodyPr>
          <a:lstStyle/>
          <a:p>
            <a:pPr algn="l">
              <a:lnSpc>
                <a:spcPct val="115000"/>
              </a:lnSpc>
            </a:pPr>
            <a:r>
              <a:rPr sz="1150" b="1" i="0">
                <a:solidFill>
                  <a:srgbClr val="E8EEF6"/>
                </a:solidFill>
                <a:latin typeface="Calibri"/>
              </a:rPr>
              <a:t>ResNet-18, ImageNet init, strict load</a:t>
            </a:r>
          </a:p>
        </p:txBody>
      </p:sp>
      <p:sp>
        <p:nvSpPr>
          <p:cNvPr id="9" name="TextBox 8"/>
          <p:cNvSpPr txBox="1"/>
          <p:nvPr/>
        </p:nvSpPr>
        <p:spPr>
          <a:xfrm>
            <a:off x="914400" y="2171700"/>
            <a:ext cx="1920240" cy="301752"/>
          </a:xfrm>
          <a:prstGeom prst="rect">
            <a:avLst/>
          </a:prstGeom>
          <a:noFill/>
        </p:spPr>
        <p:txBody>
          <a:bodyPr wrap="square" lIns="0" rIns="0" tIns="0" bIns="0" anchor="t">
            <a:spAutoFit/>
          </a:bodyPr>
          <a:lstStyle/>
          <a:p>
            <a:pPr algn="l">
              <a:lnSpc>
                <a:spcPct val="115000"/>
              </a:lnSpc>
            </a:pPr>
            <a:r>
              <a:rPr sz="1150" b="0" i="0">
                <a:solidFill>
                  <a:srgbClr val="8B9CB0"/>
                </a:solidFill>
                <a:latin typeface="Calibri"/>
              </a:rPr>
              <a:t>Dependency</a:t>
            </a:r>
          </a:p>
        </p:txBody>
      </p:sp>
      <p:sp>
        <p:nvSpPr>
          <p:cNvPr id="10" name="TextBox 9"/>
          <p:cNvSpPr txBox="1"/>
          <p:nvPr/>
        </p:nvSpPr>
        <p:spPr>
          <a:xfrm>
            <a:off x="2834640" y="2171700"/>
            <a:ext cx="2834640" cy="301752"/>
          </a:xfrm>
          <a:prstGeom prst="rect">
            <a:avLst/>
          </a:prstGeom>
          <a:noFill/>
        </p:spPr>
        <p:txBody>
          <a:bodyPr wrap="square" lIns="0" rIns="0" tIns="0" bIns="0" anchor="t">
            <a:spAutoFit/>
          </a:bodyPr>
          <a:lstStyle/>
          <a:p>
            <a:pPr algn="l">
              <a:lnSpc>
                <a:spcPct val="115000"/>
              </a:lnSpc>
            </a:pPr>
            <a:r>
              <a:rPr sz="1150" b="1" i="0">
                <a:solidFill>
                  <a:srgbClr val="E8EEF6"/>
                </a:solidFill>
                <a:latin typeface="Calibri"/>
              </a:rPr>
              <a:t>no torchvision, architecture written out</a:t>
            </a:r>
          </a:p>
        </p:txBody>
      </p:sp>
      <p:sp>
        <p:nvSpPr>
          <p:cNvPr id="11" name="TextBox 10"/>
          <p:cNvSpPr txBox="1"/>
          <p:nvPr/>
        </p:nvSpPr>
        <p:spPr>
          <a:xfrm>
            <a:off x="914400" y="2532888"/>
            <a:ext cx="1920240" cy="301752"/>
          </a:xfrm>
          <a:prstGeom prst="rect">
            <a:avLst/>
          </a:prstGeom>
          <a:noFill/>
        </p:spPr>
        <p:txBody>
          <a:bodyPr wrap="square" lIns="0" rIns="0" tIns="0" bIns="0" anchor="t">
            <a:spAutoFit/>
          </a:bodyPr>
          <a:lstStyle/>
          <a:p>
            <a:pPr algn="l">
              <a:lnSpc>
                <a:spcPct val="115000"/>
              </a:lnSpc>
            </a:pPr>
            <a:r>
              <a:rPr sz="1150" b="0" i="0">
                <a:solidFill>
                  <a:srgbClr val="8B9CB0"/>
                </a:solidFill>
                <a:latin typeface="Calibri"/>
              </a:rPr>
              <a:t>Data</a:t>
            </a:r>
          </a:p>
        </p:txBody>
      </p:sp>
      <p:sp>
        <p:nvSpPr>
          <p:cNvPr id="12" name="TextBox 11"/>
          <p:cNvSpPr txBox="1"/>
          <p:nvPr/>
        </p:nvSpPr>
        <p:spPr>
          <a:xfrm>
            <a:off x="2834640" y="2532888"/>
            <a:ext cx="2834640" cy="301752"/>
          </a:xfrm>
          <a:prstGeom prst="rect">
            <a:avLst/>
          </a:prstGeom>
          <a:noFill/>
        </p:spPr>
        <p:txBody>
          <a:bodyPr wrap="square" lIns="0" rIns="0" tIns="0" bIns="0" anchor="t">
            <a:spAutoFit/>
          </a:bodyPr>
          <a:lstStyle/>
          <a:p>
            <a:pPr algn="l">
              <a:lnSpc>
                <a:spcPct val="115000"/>
              </a:lnSpc>
            </a:pPr>
            <a:r>
              <a:rPr sz="1150" b="1" i="0">
                <a:solidFill>
                  <a:srgbClr val="E8EEF6"/>
                </a:solidFill>
                <a:latin typeface="Calibri"/>
              </a:rPr>
              <a:t>800 films, NLM Montgomery + Shenzhen</a:t>
            </a:r>
          </a:p>
        </p:txBody>
      </p:sp>
      <p:sp>
        <p:nvSpPr>
          <p:cNvPr id="13" name="TextBox 12"/>
          <p:cNvSpPr txBox="1"/>
          <p:nvPr/>
        </p:nvSpPr>
        <p:spPr>
          <a:xfrm>
            <a:off x="914400" y="2894076"/>
            <a:ext cx="1920240" cy="301752"/>
          </a:xfrm>
          <a:prstGeom prst="rect">
            <a:avLst/>
          </a:prstGeom>
          <a:noFill/>
        </p:spPr>
        <p:txBody>
          <a:bodyPr wrap="square" lIns="0" rIns="0" tIns="0" bIns="0" anchor="t">
            <a:spAutoFit/>
          </a:bodyPr>
          <a:lstStyle/>
          <a:p>
            <a:pPr algn="l">
              <a:lnSpc>
                <a:spcPct val="115000"/>
              </a:lnSpc>
            </a:pPr>
            <a:r>
              <a:rPr sz="1150" b="0" i="0">
                <a:solidFill>
                  <a:srgbClr val="8B9CB0"/>
                </a:solidFill>
                <a:latin typeface="Calibri"/>
              </a:rPr>
              <a:t>Train / val / test</a:t>
            </a:r>
          </a:p>
        </p:txBody>
      </p:sp>
      <p:sp>
        <p:nvSpPr>
          <p:cNvPr id="14" name="TextBox 13"/>
          <p:cNvSpPr txBox="1"/>
          <p:nvPr/>
        </p:nvSpPr>
        <p:spPr>
          <a:xfrm>
            <a:off x="2834640" y="2894076"/>
            <a:ext cx="2834640" cy="301752"/>
          </a:xfrm>
          <a:prstGeom prst="rect">
            <a:avLst/>
          </a:prstGeom>
          <a:noFill/>
        </p:spPr>
        <p:txBody>
          <a:bodyPr wrap="square" lIns="0" rIns="0" tIns="0" bIns="0" anchor="t">
            <a:spAutoFit/>
          </a:bodyPr>
          <a:lstStyle/>
          <a:p>
            <a:pPr algn="l">
              <a:lnSpc>
                <a:spcPct val="115000"/>
              </a:lnSpc>
            </a:pPr>
            <a:r>
              <a:rPr sz="1150" b="1" i="0">
                <a:solidFill>
                  <a:srgbClr val="E8EEF6"/>
                </a:solidFill>
                <a:latin typeface="Calibri"/>
              </a:rPr>
              <a:t>560 / 120 / 120</a:t>
            </a:r>
          </a:p>
        </p:txBody>
      </p:sp>
      <p:sp>
        <p:nvSpPr>
          <p:cNvPr id="15" name="TextBox 14"/>
          <p:cNvSpPr txBox="1"/>
          <p:nvPr/>
        </p:nvSpPr>
        <p:spPr>
          <a:xfrm>
            <a:off x="914400" y="3255264"/>
            <a:ext cx="1920240" cy="301752"/>
          </a:xfrm>
          <a:prstGeom prst="rect">
            <a:avLst/>
          </a:prstGeom>
          <a:noFill/>
        </p:spPr>
        <p:txBody>
          <a:bodyPr wrap="square" lIns="0" rIns="0" tIns="0" bIns="0" anchor="t">
            <a:spAutoFit/>
          </a:bodyPr>
          <a:lstStyle/>
          <a:p>
            <a:pPr algn="l">
              <a:lnSpc>
                <a:spcPct val="115000"/>
              </a:lnSpc>
            </a:pPr>
            <a:r>
              <a:rPr sz="1150" b="0" i="0">
                <a:solidFill>
                  <a:srgbClr val="8B9CB0"/>
                </a:solidFill>
                <a:latin typeface="Calibri"/>
              </a:rPr>
              <a:t>Hardware</a:t>
            </a:r>
          </a:p>
        </p:txBody>
      </p:sp>
      <p:sp>
        <p:nvSpPr>
          <p:cNvPr id="16" name="TextBox 15"/>
          <p:cNvSpPr txBox="1"/>
          <p:nvPr/>
        </p:nvSpPr>
        <p:spPr>
          <a:xfrm>
            <a:off x="2834640" y="3255264"/>
            <a:ext cx="2834640" cy="301752"/>
          </a:xfrm>
          <a:prstGeom prst="rect">
            <a:avLst/>
          </a:prstGeom>
          <a:noFill/>
        </p:spPr>
        <p:txBody>
          <a:bodyPr wrap="square" lIns="0" rIns="0" tIns="0" bIns="0" anchor="t">
            <a:spAutoFit/>
          </a:bodyPr>
          <a:lstStyle/>
          <a:p>
            <a:pPr algn="l">
              <a:lnSpc>
                <a:spcPct val="115000"/>
              </a:lnSpc>
            </a:pPr>
            <a:r>
              <a:rPr sz="1150" b="1" i="0">
                <a:solidFill>
                  <a:srgbClr val="E8EEF6"/>
                </a:solidFill>
                <a:latin typeface="Calibri"/>
              </a:rPr>
              <a:t>RTX 3050 6GB laptop</a:t>
            </a:r>
          </a:p>
        </p:txBody>
      </p:sp>
      <p:sp>
        <p:nvSpPr>
          <p:cNvPr id="17" name="TextBox 16"/>
          <p:cNvSpPr txBox="1"/>
          <p:nvPr/>
        </p:nvSpPr>
        <p:spPr>
          <a:xfrm>
            <a:off x="914400" y="3616452"/>
            <a:ext cx="1920240" cy="301752"/>
          </a:xfrm>
          <a:prstGeom prst="rect">
            <a:avLst/>
          </a:prstGeom>
          <a:noFill/>
        </p:spPr>
        <p:txBody>
          <a:bodyPr wrap="square" lIns="0" rIns="0" tIns="0" bIns="0" anchor="t">
            <a:spAutoFit/>
          </a:bodyPr>
          <a:lstStyle/>
          <a:p>
            <a:pPr algn="l">
              <a:lnSpc>
                <a:spcPct val="115000"/>
              </a:lnSpc>
            </a:pPr>
            <a:r>
              <a:rPr sz="1150" b="0" i="0">
                <a:solidFill>
                  <a:srgbClr val="8B9CB0"/>
                </a:solidFill>
                <a:latin typeface="Calibri"/>
              </a:rPr>
              <a:t>Training time</a:t>
            </a:r>
          </a:p>
        </p:txBody>
      </p:sp>
      <p:sp>
        <p:nvSpPr>
          <p:cNvPr id="18" name="TextBox 17"/>
          <p:cNvSpPr txBox="1"/>
          <p:nvPr/>
        </p:nvSpPr>
        <p:spPr>
          <a:xfrm>
            <a:off x="2834640" y="3616452"/>
            <a:ext cx="2834640" cy="301752"/>
          </a:xfrm>
          <a:prstGeom prst="rect">
            <a:avLst/>
          </a:prstGeom>
          <a:noFill/>
        </p:spPr>
        <p:txBody>
          <a:bodyPr wrap="square" lIns="0" rIns="0" tIns="0" bIns="0" anchor="t">
            <a:spAutoFit/>
          </a:bodyPr>
          <a:lstStyle/>
          <a:p>
            <a:pPr algn="l">
              <a:lnSpc>
                <a:spcPct val="115000"/>
              </a:lnSpc>
            </a:pPr>
            <a:r>
              <a:rPr sz="1150" b="1" i="0">
                <a:solidFill>
                  <a:srgbClr val="E8EEF6"/>
                </a:solidFill>
                <a:latin typeface="Calibri"/>
              </a:rPr>
              <a:t>101 s for 14 epochs</a:t>
            </a:r>
          </a:p>
        </p:txBody>
      </p:sp>
      <p:sp>
        <p:nvSpPr>
          <p:cNvPr id="19" name="TextBox 18"/>
          <p:cNvSpPr txBox="1"/>
          <p:nvPr/>
        </p:nvSpPr>
        <p:spPr>
          <a:xfrm>
            <a:off x="914400" y="3977639"/>
            <a:ext cx="1920240" cy="301752"/>
          </a:xfrm>
          <a:prstGeom prst="rect">
            <a:avLst/>
          </a:prstGeom>
          <a:noFill/>
        </p:spPr>
        <p:txBody>
          <a:bodyPr wrap="square" lIns="0" rIns="0" tIns="0" bIns="0" anchor="t">
            <a:spAutoFit/>
          </a:bodyPr>
          <a:lstStyle/>
          <a:p>
            <a:pPr algn="l">
              <a:lnSpc>
                <a:spcPct val="115000"/>
              </a:lnSpc>
            </a:pPr>
            <a:r>
              <a:rPr sz="1150" b="0" i="0">
                <a:solidFill>
                  <a:srgbClr val="8B9CB0"/>
                </a:solidFill>
                <a:latin typeface="Calibri"/>
              </a:rPr>
              <a:t>Held-out AUROC</a:t>
            </a:r>
          </a:p>
        </p:txBody>
      </p:sp>
      <p:sp>
        <p:nvSpPr>
          <p:cNvPr id="20" name="TextBox 19"/>
          <p:cNvSpPr txBox="1"/>
          <p:nvPr/>
        </p:nvSpPr>
        <p:spPr>
          <a:xfrm>
            <a:off x="2834640" y="3977639"/>
            <a:ext cx="2834640" cy="301752"/>
          </a:xfrm>
          <a:prstGeom prst="rect">
            <a:avLst/>
          </a:prstGeom>
          <a:noFill/>
        </p:spPr>
        <p:txBody>
          <a:bodyPr wrap="square" lIns="0" rIns="0" tIns="0" bIns="0" anchor="t">
            <a:spAutoFit/>
          </a:bodyPr>
          <a:lstStyle/>
          <a:p>
            <a:pPr algn="l">
              <a:lnSpc>
                <a:spcPct val="115000"/>
              </a:lnSpc>
            </a:pPr>
            <a:r>
              <a:rPr sz="1150" b="1" i="0">
                <a:solidFill>
                  <a:srgbClr val="E8EEF6"/>
                </a:solidFill>
                <a:latin typeface="Calibri"/>
              </a:rPr>
              <a:t>0.945  [0.900, 0.981]</a:t>
            </a:r>
          </a:p>
        </p:txBody>
      </p:sp>
      <p:sp>
        <p:nvSpPr>
          <p:cNvPr id="21" name="TextBox 20"/>
          <p:cNvSpPr txBox="1"/>
          <p:nvPr/>
        </p:nvSpPr>
        <p:spPr>
          <a:xfrm>
            <a:off x="914400" y="4338828"/>
            <a:ext cx="1920240" cy="301752"/>
          </a:xfrm>
          <a:prstGeom prst="rect">
            <a:avLst/>
          </a:prstGeom>
          <a:noFill/>
        </p:spPr>
        <p:txBody>
          <a:bodyPr wrap="square" lIns="0" rIns="0" tIns="0" bIns="0" anchor="t">
            <a:spAutoFit/>
          </a:bodyPr>
          <a:lstStyle/>
          <a:p>
            <a:pPr algn="l">
              <a:lnSpc>
                <a:spcPct val="115000"/>
              </a:lnSpc>
            </a:pPr>
            <a:r>
              <a:rPr sz="1150" b="0" i="0">
                <a:solidFill>
                  <a:srgbClr val="8B9CB0"/>
                </a:solidFill>
                <a:latin typeface="Calibri"/>
              </a:rPr>
              <a:t>Sens / spec</a:t>
            </a:r>
          </a:p>
        </p:txBody>
      </p:sp>
      <p:sp>
        <p:nvSpPr>
          <p:cNvPr id="22" name="TextBox 21"/>
          <p:cNvSpPr txBox="1"/>
          <p:nvPr/>
        </p:nvSpPr>
        <p:spPr>
          <a:xfrm>
            <a:off x="2834640" y="4338828"/>
            <a:ext cx="2834640" cy="301752"/>
          </a:xfrm>
          <a:prstGeom prst="rect">
            <a:avLst/>
          </a:prstGeom>
          <a:noFill/>
        </p:spPr>
        <p:txBody>
          <a:bodyPr wrap="square" lIns="0" rIns="0" tIns="0" bIns="0" anchor="t">
            <a:spAutoFit/>
          </a:bodyPr>
          <a:lstStyle/>
          <a:p>
            <a:pPr algn="l">
              <a:lnSpc>
                <a:spcPct val="115000"/>
              </a:lnSpc>
            </a:pPr>
            <a:r>
              <a:rPr sz="1150" b="1" i="0">
                <a:solidFill>
                  <a:srgbClr val="E8EEF6"/>
                </a:solidFill>
                <a:latin typeface="Calibri"/>
              </a:rPr>
              <a:t>0.831 / 0.885</a:t>
            </a:r>
          </a:p>
        </p:txBody>
      </p:sp>
      <p:sp>
        <p:nvSpPr>
          <p:cNvPr id="23" name="Rounded Rectangle 22"/>
          <p:cNvSpPr/>
          <p:nvPr/>
        </p:nvSpPr>
        <p:spPr>
          <a:xfrm>
            <a:off x="640080" y="4956048"/>
            <a:ext cx="5120640" cy="1170432"/>
          </a:xfrm>
          <a:prstGeom prst="roundRect">
            <a:avLst>
              <a:gd name="adj" fmla="val 4000"/>
            </a:avLst>
          </a:prstGeom>
          <a:solidFill>
            <a:srgbClr val="182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138928"/>
            <a:ext cx="4572000" cy="868680"/>
          </a:xfrm>
          <a:prstGeom prst="rect">
            <a:avLst/>
          </a:prstGeom>
          <a:noFill/>
        </p:spPr>
        <p:txBody>
          <a:bodyPr wrap="square" lIns="0" rIns="0" tIns="0" bIns="0" anchor="t">
            <a:spAutoFit/>
          </a:bodyPr>
          <a:lstStyle/>
          <a:p>
            <a:pPr algn="l">
              <a:lnSpc>
                <a:spcPct val="125000"/>
              </a:lnSpc>
            </a:pPr>
            <a:r>
              <a:rPr sz="1250" b="1" i="0">
                <a:solidFill>
                  <a:srgbClr val="FBBF24"/>
                </a:solidFill>
                <a:latin typeface="Calibri"/>
              </a:rPr>
              <a:t>Two domain choices most pipelines get wrong: </a:t>
            </a:r>
          </a:p>
          <a:p>
            <a:pPr algn="l">
              <a:lnSpc>
                <a:spcPct val="125000"/>
              </a:lnSpc>
            </a:pPr>
            <a:r>
              <a:rPr sz="1200" b="0" i="0">
                <a:solidFill>
                  <a:srgbClr val="8B9CB0"/>
                </a:solidFill>
                <a:latin typeface="Calibri"/>
              </a:rPr>
              <a:t>no horizontal flips (the heart is on the left, so a mirrored chest film is anatomically impossible) and no cropping at evaluation (a crop can remove the apical zones where TB lives).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lIns="0" rIns="0" tIns="0" bIns="0" anchor="t">
            <a:spAutoFit/>
          </a:bodyPr>
          <a:lstStyle/>
          <a:p>
            <a:pPr algn="l">
              <a:lnSpc>
                <a:spcPct val="100000"/>
              </a:lnSpc>
            </a:pPr>
            <a:r>
              <a:rPr sz="1100" b="1" i="0">
                <a:solidFill>
                  <a:srgbClr val="A78BFA"/>
                </a:solidFill>
                <a:latin typeface="Calibri"/>
              </a:rPr>
              <a:t>STAGE 2, GROUNDED GENERATION</a:t>
            </a:r>
          </a:p>
        </p:txBody>
      </p:sp>
      <p:sp>
        <p:nvSpPr>
          <p:cNvPr id="4" name="TextBox 3"/>
          <p:cNvSpPr txBox="1"/>
          <p:nvPr/>
        </p:nvSpPr>
        <p:spPr>
          <a:xfrm>
            <a:off x="640080" y="713232"/>
            <a:ext cx="10881360" cy="914400"/>
          </a:xfrm>
          <a:prstGeom prst="rect">
            <a:avLst/>
          </a:prstGeom>
          <a:noFill/>
        </p:spPr>
        <p:txBody>
          <a:bodyPr wrap="square" lIns="0" rIns="0" tIns="0" bIns="0" anchor="t">
            <a:spAutoFit/>
          </a:bodyPr>
          <a:lstStyle/>
          <a:p>
            <a:pPr algn="l">
              <a:lnSpc>
                <a:spcPct val="98000"/>
              </a:lnSpc>
            </a:pPr>
            <a:r>
              <a:rPr sz="3300" b="1" i="0">
                <a:solidFill>
                  <a:srgbClr val="E8EEF6"/>
                </a:solidFill>
                <a:latin typeface="Cambria"/>
              </a:rPr>
              <a:t>The language model never sees the X-ray</a:t>
            </a:r>
          </a:p>
        </p:txBody>
      </p:sp>
      <p:sp>
        <p:nvSpPr>
          <p:cNvPr id="5" name="Rounded Rectangle 4"/>
          <p:cNvSpPr/>
          <p:nvPr/>
        </p:nvSpPr>
        <p:spPr>
          <a:xfrm>
            <a:off x="640080" y="1783080"/>
            <a:ext cx="5989320" cy="4343400"/>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5257800" cy="3749039"/>
          </a:xfrm>
          <a:prstGeom prst="rect">
            <a:avLst/>
          </a:prstGeom>
          <a:noFill/>
        </p:spPr>
        <p:txBody>
          <a:bodyPr wrap="square" lIns="0" rIns="0" tIns="0" bIns="0" anchor="t">
            <a:spAutoFit/>
          </a:bodyPr>
          <a:lstStyle/>
          <a:p>
            <a:pPr algn="l">
              <a:lnSpc>
                <a:spcPct val="130000"/>
              </a:lnSpc>
            </a:pPr>
            <a:r>
              <a:rPr sz="1500" b="1" i="0">
                <a:solidFill>
                  <a:srgbClr val="E8EEF6"/>
                </a:solidFill>
                <a:latin typeface="Calibri"/>
              </a:rPr>
              <a:t>An LLM cannot read a radiograph, so letting it interpret one would just be fabrication.</a:t>
            </a:r>
          </a:p>
          <a:p>
            <a:pPr algn="l">
              <a:lnSpc>
                <a:spcPct val="130000"/>
              </a:lnSpc>
            </a:pPr>
            <a:r>
              <a:rPr sz="1350" b="0" i="0">
                <a:solidFill>
                  <a:srgbClr val="8B9CB0"/>
                </a:solidFill>
                <a:latin typeface="Calibri"/>
              </a:rPr>
              <a:t>It receives a fixed evidence block: the probability, the operating threshold, the Grad-CAM zone distribution, and the model's own held-out performance. It may use nothing else.</a:t>
            </a:r>
          </a:p>
          <a:p>
            <a:pPr algn="l">
              <a:lnSpc>
                <a:spcPct val="130000"/>
              </a:lnSpc>
            </a:pPr>
            <a:r>
              <a:rPr sz="1350" b="0" i="0">
                <a:solidFill>
                  <a:srgbClr val="8B9CB0"/>
                </a:solidFill>
                <a:latin typeface="Calibri"/>
              </a:rPr>
              <a:t>Forbidden: inventing findings, naming a diagnosis, or stating the patient does or does not have TB. Required: name microbiological confirmation as the standard.</a:t>
            </a:r>
          </a:p>
          <a:p>
            <a:pPr algn="l">
              <a:lnSpc>
                <a:spcPct val="130000"/>
              </a:lnSpc>
            </a:pPr>
            <a:r>
              <a:rPr sz="1350" b="1" i="0">
                <a:solidFill>
                  <a:srgbClr val="22D3EE"/>
                </a:solidFill>
                <a:latin typeface="Calibri"/>
              </a:rPr>
              <a:t>The UI shows that exact evidence block for every case, so the grounding is inspectable, not claimed.</a:t>
            </a:r>
          </a:p>
        </p:txBody>
      </p:sp>
      <p:sp>
        <p:nvSpPr>
          <p:cNvPr id="7" name="Rounded Rectangle 6"/>
          <p:cNvSpPr/>
          <p:nvPr/>
        </p:nvSpPr>
        <p:spPr>
          <a:xfrm>
            <a:off x="6903720" y="1783080"/>
            <a:ext cx="4645152" cy="4343400"/>
          </a:xfrm>
          <a:prstGeom prst="roundRect">
            <a:avLst>
              <a:gd name="adj" fmla="val 4000"/>
            </a:avLst>
          </a:prstGeom>
          <a:solidFill>
            <a:srgbClr val="182330"/>
          </a:solidFill>
          <a:ln w="15875">
            <a:solidFill>
              <a:srgbClr val="4A3C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0" y="2057400"/>
            <a:ext cx="4023360" cy="274320"/>
          </a:xfrm>
          <a:prstGeom prst="rect">
            <a:avLst/>
          </a:prstGeom>
          <a:noFill/>
        </p:spPr>
        <p:txBody>
          <a:bodyPr wrap="square" lIns="0" rIns="0" tIns="0" bIns="0" anchor="t">
            <a:spAutoFit/>
          </a:bodyPr>
          <a:lstStyle/>
          <a:p>
            <a:pPr algn="l">
              <a:lnSpc>
                <a:spcPct val="115000"/>
              </a:lnSpc>
            </a:pPr>
            <a:r>
              <a:rPr sz="1050" b="1" i="0">
                <a:solidFill>
                  <a:srgbClr val="A78BFA"/>
                </a:solidFill>
                <a:latin typeface="Calibri"/>
              </a:rPr>
              <a:t>GENERATED OUTPUT, VERBATIM</a:t>
            </a:r>
          </a:p>
        </p:txBody>
      </p:sp>
      <p:sp>
        <p:nvSpPr>
          <p:cNvPr id="9" name="TextBox 8"/>
          <p:cNvSpPr txBox="1"/>
          <p:nvPr/>
        </p:nvSpPr>
        <p:spPr>
          <a:xfrm>
            <a:off x="7223760" y="2450592"/>
            <a:ext cx="4023360" cy="3474720"/>
          </a:xfrm>
          <a:prstGeom prst="rect">
            <a:avLst/>
          </a:prstGeom>
          <a:noFill/>
        </p:spPr>
        <p:txBody>
          <a:bodyPr wrap="square" lIns="0" rIns="0" tIns="0" bIns="0" anchor="t">
            <a:spAutoFit/>
          </a:bodyPr>
          <a:lstStyle/>
          <a:p>
            <a:pPr algn="l">
              <a:lnSpc>
                <a:spcPct val="132000"/>
              </a:lnSpc>
            </a:pPr>
            <a:r>
              <a:rPr sz="1300" b="0" i="1">
                <a:solidFill>
                  <a:srgbClr val="E8EEF6"/>
                </a:solidFill>
                <a:latin typeface="Calibri"/>
              </a:rPr>
              <a:t>“Model attention was regional and left-sided, with the greatest saliency in the left upper zone (34% of total)… This upper-zone-predominant distribution aligns with the typical pattern of post-primary pulmonary tuberculosis… The recommended next step is microbiological confirmation.”</a:t>
            </a:r>
          </a:p>
          <a:p>
            <a:pPr algn="l">
              <a:lnSpc>
                <a:spcPct val="132000"/>
              </a:lnSpc>
            </a:pPr>
            <a:r>
              <a:rPr sz="1100" b="0" i="0">
                <a:solidFill>
                  <a:srgbClr val="8B9CB0"/>
                </a:solidFill>
                <a:latin typeface="Calibri"/>
              </a:rPr>
              <a:t>openai/gpt-oss-120b via Groq</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lIns="0" rIns="0" tIns="0" bIns="0" anchor="t">
            <a:spAutoFit/>
          </a:bodyPr>
          <a:lstStyle/>
          <a:p>
            <a:pPr algn="l">
              <a:lnSpc>
                <a:spcPct val="100000"/>
              </a:lnSpc>
            </a:pPr>
            <a:r>
              <a:rPr sz="1100" b="1" i="0">
                <a:solidFill>
                  <a:srgbClr val="22D3EE"/>
                </a:solidFill>
                <a:latin typeface="Calibri"/>
              </a:rPr>
              <a:t>RESULTS</a:t>
            </a:r>
          </a:p>
        </p:txBody>
      </p:sp>
      <p:sp>
        <p:nvSpPr>
          <p:cNvPr id="4" name="TextBox 3"/>
          <p:cNvSpPr txBox="1"/>
          <p:nvPr/>
        </p:nvSpPr>
        <p:spPr>
          <a:xfrm>
            <a:off x="640080" y="713232"/>
            <a:ext cx="10881360" cy="914400"/>
          </a:xfrm>
          <a:prstGeom prst="rect">
            <a:avLst/>
          </a:prstGeom>
          <a:noFill/>
        </p:spPr>
        <p:txBody>
          <a:bodyPr wrap="square" lIns="0" rIns="0" tIns="0" bIns="0" anchor="t">
            <a:spAutoFit/>
          </a:bodyPr>
          <a:lstStyle/>
          <a:p>
            <a:pPr algn="l">
              <a:lnSpc>
                <a:spcPct val="98000"/>
              </a:lnSpc>
            </a:pPr>
            <a:r>
              <a:rPr sz="3300" b="1" i="0">
                <a:solidFill>
                  <a:srgbClr val="E8EEF6"/>
                </a:solidFill>
                <a:latin typeface="Cambria"/>
              </a:rPr>
              <a:t>The interval is the result, not the point estimate</a:t>
            </a:r>
          </a:p>
        </p:txBody>
      </p:sp>
      <p:sp>
        <p:nvSpPr>
          <p:cNvPr id="5" name="Rounded Rectangle 4"/>
          <p:cNvSpPr/>
          <p:nvPr/>
        </p:nvSpPr>
        <p:spPr>
          <a:xfrm>
            <a:off x="640080" y="1828800"/>
            <a:ext cx="2578608" cy="1481328"/>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2029968"/>
            <a:ext cx="2194560" cy="658368"/>
          </a:xfrm>
          <a:prstGeom prst="rect">
            <a:avLst/>
          </a:prstGeom>
          <a:noFill/>
        </p:spPr>
        <p:txBody>
          <a:bodyPr wrap="square" lIns="0" rIns="0" tIns="0" bIns="0" anchor="t">
            <a:spAutoFit/>
          </a:bodyPr>
          <a:lstStyle/>
          <a:p>
            <a:pPr algn="l">
              <a:lnSpc>
                <a:spcPct val="90000"/>
              </a:lnSpc>
            </a:pPr>
            <a:r>
              <a:rPr sz="3800" b="1" i="0">
                <a:solidFill>
                  <a:srgbClr val="22D3EE"/>
                </a:solidFill>
                <a:latin typeface="Calibri"/>
              </a:rPr>
              <a:t>0.945</a:t>
            </a:r>
          </a:p>
        </p:txBody>
      </p:sp>
      <p:sp>
        <p:nvSpPr>
          <p:cNvPr id="7" name="TextBox 6"/>
          <p:cNvSpPr txBox="1"/>
          <p:nvPr/>
        </p:nvSpPr>
        <p:spPr>
          <a:xfrm>
            <a:off x="896112" y="2651760"/>
            <a:ext cx="2194560" cy="548640"/>
          </a:xfrm>
          <a:prstGeom prst="rect">
            <a:avLst/>
          </a:prstGeom>
          <a:noFill/>
        </p:spPr>
        <p:txBody>
          <a:bodyPr wrap="square" lIns="0" rIns="0" tIns="0" bIns="0" anchor="t">
            <a:spAutoFit/>
          </a:bodyPr>
          <a:lstStyle/>
          <a:p>
            <a:pPr algn="l">
              <a:lnSpc>
                <a:spcPct val="110000"/>
              </a:lnSpc>
            </a:pPr>
            <a:r>
              <a:rPr sz="1100" b="0" i="0">
                <a:solidFill>
                  <a:srgbClr val="8B9CB0"/>
                </a:solidFill>
                <a:latin typeface="Calibri"/>
              </a:rPr>
              <a:t>held-out AUROC</a:t>
            </a:r>
          </a:p>
        </p:txBody>
      </p:sp>
      <p:sp>
        <p:nvSpPr>
          <p:cNvPr id="8" name="Rounded Rectangle 7"/>
          <p:cNvSpPr/>
          <p:nvPr/>
        </p:nvSpPr>
        <p:spPr>
          <a:xfrm>
            <a:off x="3438144" y="1828800"/>
            <a:ext cx="2578608" cy="1481328"/>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94176" y="2029968"/>
            <a:ext cx="2194560" cy="658368"/>
          </a:xfrm>
          <a:prstGeom prst="rect">
            <a:avLst/>
          </a:prstGeom>
          <a:noFill/>
        </p:spPr>
        <p:txBody>
          <a:bodyPr wrap="square" lIns="0" rIns="0" tIns="0" bIns="0" anchor="t">
            <a:spAutoFit/>
          </a:bodyPr>
          <a:lstStyle/>
          <a:p>
            <a:pPr algn="l">
              <a:lnSpc>
                <a:spcPct val="90000"/>
              </a:lnSpc>
            </a:pPr>
            <a:r>
              <a:rPr sz="3000" b="1" i="0">
                <a:solidFill>
                  <a:srgbClr val="38BDF8"/>
                </a:solidFill>
                <a:latin typeface="Calibri"/>
              </a:rPr>
              <a:t>[0.90, 0.98]</a:t>
            </a:r>
          </a:p>
        </p:txBody>
      </p:sp>
      <p:sp>
        <p:nvSpPr>
          <p:cNvPr id="10" name="TextBox 9"/>
          <p:cNvSpPr txBox="1"/>
          <p:nvPr/>
        </p:nvSpPr>
        <p:spPr>
          <a:xfrm>
            <a:off x="3694176" y="2651760"/>
            <a:ext cx="2194560" cy="548640"/>
          </a:xfrm>
          <a:prstGeom prst="rect">
            <a:avLst/>
          </a:prstGeom>
          <a:noFill/>
        </p:spPr>
        <p:txBody>
          <a:bodyPr wrap="square" lIns="0" rIns="0" tIns="0" bIns="0" anchor="t">
            <a:spAutoFit/>
          </a:bodyPr>
          <a:lstStyle/>
          <a:p>
            <a:pPr algn="l">
              <a:lnSpc>
                <a:spcPct val="110000"/>
              </a:lnSpc>
            </a:pPr>
            <a:r>
              <a:rPr sz="1100" b="0" i="0">
                <a:solidFill>
                  <a:srgbClr val="8B9CB0"/>
                </a:solidFill>
                <a:latin typeface="Calibri"/>
              </a:rPr>
              <a:t>95% confidence interval</a:t>
            </a:r>
          </a:p>
        </p:txBody>
      </p:sp>
      <p:sp>
        <p:nvSpPr>
          <p:cNvPr id="11" name="Rounded Rectangle 10"/>
          <p:cNvSpPr/>
          <p:nvPr/>
        </p:nvSpPr>
        <p:spPr>
          <a:xfrm>
            <a:off x="6236208" y="1828800"/>
            <a:ext cx="2578608" cy="1481328"/>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029968"/>
            <a:ext cx="2194560" cy="658368"/>
          </a:xfrm>
          <a:prstGeom prst="rect">
            <a:avLst/>
          </a:prstGeom>
          <a:noFill/>
        </p:spPr>
        <p:txBody>
          <a:bodyPr wrap="square" lIns="0" rIns="0" tIns="0" bIns="0" anchor="t">
            <a:spAutoFit/>
          </a:bodyPr>
          <a:lstStyle/>
          <a:p>
            <a:pPr algn="l">
              <a:lnSpc>
                <a:spcPct val="90000"/>
              </a:lnSpc>
            </a:pPr>
            <a:r>
              <a:rPr sz="3800" b="1" i="0">
                <a:solidFill>
                  <a:srgbClr val="34D399"/>
                </a:solidFill>
                <a:latin typeface="Calibri"/>
              </a:rPr>
              <a:t>0.831</a:t>
            </a:r>
          </a:p>
        </p:txBody>
      </p:sp>
      <p:sp>
        <p:nvSpPr>
          <p:cNvPr id="13" name="TextBox 12"/>
          <p:cNvSpPr txBox="1"/>
          <p:nvPr/>
        </p:nvSpPr>
        <p:spPr>
          <a:xfrm>
            <a:off x="6492240" y="2651760"/>
            <a:ext cx="2194560" cy="548640"/>
          </a:xfrm>
          <a:prstGeom prst="rect">
            <a:avLst/>
          </a:prstGeom>
          <a:noFill/>
        </p:spPr>
        <p:txBody>
          <a:bodyPr wrap="square" lIns="0" rIns="0" tIns="0" bIns="0" anchor="t">
            <a:spAutoFit/>
          </a:bodyPr>
          <a:lstStyle/>
          <a:p>
            <a:pPr algn="l">
              <a:lnSpc>
                <a:spcPct val="110000"/>
              </a:lnSpc>
            </a:pPr>
            <a:r>
              <a:rPr sz="1100" b="0" i="0">
                <a:solidFill>
                  <a:srgbClr val="8B9CB0"/>
                </a:solidFill>
                <a:latin typeface="Calibri"/>
              </a:rPr>
              <a:t>sensitivity</a:t>
            </a:r>
          </a:p>
        </p:txBody>
      </p:sp>
      <p:sp>
        <p:nvSpPr>
          <p:cNvPr id="14" name="Rounded Rectangle 13"/>
          <p:cNvSpPr/>
          <p:nvPr/>
        </p:nvSpPr>
        <p:spPr>
          <a:xfrm>
            <a:off x="9034272" y="1828800"/>
            <a:ext cx="2578608" cy="1481328"/>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90304" y="2029968"/>
            <a:ext cx="2194560" cy="658368"/>
          </a:xfrm>
          <a:prstGeom prst="rect">
            <a:avLst/>
          </a:prstGeom>
          <a:noFill/>
        </p:spPr>
        <p:txBody>
          <a:bodyPr wrap="square" lIns="0" rIns="0" tIns="0" bIns="0" anchor="t">
            <a:spAutoFit/>
          </a:bodyPr>
          <a:lstStyle/>
          <a:p>
            <a:pPr algn="l">
              <a:lnSpc>
                <a:spcPct val="90000"/>
              </a:lnSpc>
            </a:pPr>
            <a:r>
              <a:rPr sz="3800" b="1" i="0">
                <a:solidFill>
                  <a:srgbClr val="34D399"/>
                </a:solidFill>
                <a:latin typeface="Calibri"/>
              </a:rPr>
              <a:t>0.885</a:t>
            </a:r>
          </a:p>
        </p:txBody>
      </p:sp>
      <p:sp>
        <p:nvSpPr>
          <p:cNvPr id="16" name="TextBox 15"/>
          <p:cNvSpPr txBox="1"/>
          <p:nvPr/>
        </p:nvSpPr>
        <p:spPr>
          <a:xfrm>
            <a:off x="9290304" y="2651760"/>
            <a:ext cx="2194560" cy="548640"/>
          </a:xfrm>
          <a:prstGeom prst="rect">
            <a:avLst/>
          </a:prstGeom>
          <a:noFill/>
        </p:spPr>
        <p:txBody>
          <a:bodyPr wrap="square" lIns="0" rIns="0" tIns="0" bIns="0" anchor="t">
            <a:spAutoFit/>
          </a:bodyPr>
          <a:lstStyle/>
          <a:p>
            <a:pPr algn="l">
              <a:lnSpc>
                <a:spcPct val="110000"/>
              </a:lnSpc>
            </a:pPr>
            <a:r>
              <a:rPr sz="1100" b="0" i="0">
                <a:solidFill>
                  <a:srgbClr val="8B9CB0"/>
                </a:solidFill>
                <a:latin typeface="Calibri"/>
              </a:rPr>
              <a:t>specificity</a:t>
            </a:r>
          </a:p>
        </p:txBody>
      </p:sp>
      <p:sp>
        <p:nvSpPr>
          <p:cNvPr id="17" name="Rounded Rectangle 16"/>
          <p:cNvSpPr/>
          <p:nvPr/>
        </p:nvSpPr>
        <p:spPr>
          <a:xfrm>
            <a:off x="640080" y="3566160"/>
            <a:ext cx="5440680" cy="2560320"/>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3840480"/>
            <a:ext cx="4846320" cy="2057400"/>
          </a:xfrm>
          <a:prstGeom prst="rect">
            <a:avLst/>
          </a:prstGeom>
          <a:noFill/>
        </p:spPr>
        <p:txBody>
          <a:bodyPr wrap="square" lIns="0" rIns="0" tIns="0" bIns="0" anchor="t">
            <a:spAutoFit/>
          </a:bodyPr>
          <a:lstStyle/>
          <a:p>
            <a:pPr algn="l">
              <a:lnSpc>
                <a:spcPct val="130000"/>
              </a:lnSpc>
            </a:pPr>
            <a:r>
              <a:rPr sz="1500" b="1" i="0">
                <a:solidFill>
                  <a:srgbClr val="E8EEF6"/>
                </a:solidFill>
                <a:latin typeface="Calibri"/>
              </a:rPr>
              <a:t>Why we lead with the interval</a:t>
            </a:r>
          </a:p>
          <a:p>
            <a:pPr algn="l">
              <a:lnSpc>
                <a:spcPct val="130000"/>
              </a:lnSpc>
            </a:pPr>
            <a:r>
              <a:rPr sz="1300" b="0" i="0">
                <a:solidFill>
                  <a:srgbClr val="8B9CB0"/>
                </a:solidFill>
                <a:latin typeface="Calibri"/>
              </a:rPr>
              <a:t>Our first run used 138 films, 21 in test. It produced AUROC 0.889 with an interval from 0.689 to 1.000, a number that means nothing.</a:t>
            </a:r>
          </a:p>
          <a:p>
            <a:pPr algn="l">
              <a:lnSpc>
                <a:spcPct val="130000"/>
              </a:lnSpc>
            </a:pPr>
            <a:r>
              <a:rPr sz="1300" b="1" i="0">
                <a:solidFill>
                  <a:srgbClr val="FBBF24"/>
                </a:solidFill>
                <a:latin typeface="Calibri"/>
              </a:rPr>
              <a:t>Scaling to 800 films is what tightened it. Not a better model.</a:t>
            </a:r>
          </a:p>
        </p:txBody>
      </p:sp>
      <p:sp>
        <p:nvSpPr>
          <p:cNvPr id="19" name="Rounded Rectangle 18"/>
          <p:cNvSpPr/>
          <p:nvPr/>
        </p:nvSpPr>
        <p:spPr>
          <a:xfrm>
            <a:off x="6309360" y="3566160"/>
            <a:ext cx="5239512" cy="2560320"/>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3840480"/>
            <a:ext cx="4617720" cy="2057400"/>
          </a:xfrm>
          <a:prstGeom prst="rect">
            <a:avLst/>
          </a:prstGeom>
          <a:noFill/>
        </p:spPr>
        <p:txBody>
          <a:bodyPr wrap="square" lIns="0" rIns="0" tIns="0" bIns="0" anchor="t">
            <a:spAutoFit/>
          </a:bodyPr>
          <a:lstStyle/>
          <a:p>
            <a:pPr algn="l">
              <a:lnSpc>
                <a:spcPct val="130000"/>
              </a:lnSpc>
            </a:pPr>
            <a:r>
              <a:rPr sz="1500" b="1" i="0">
                <a:solidFill>
                  <a:srgbClr val="E8EEF6"/>
                </a:solidFill>
                <a:latin typeface="Calibri"/>
              </a:rPr>
              <a:t>Screening-appropriate evaluation</a:t>
            </a:r>
          </a:p>
          <a:p>
            <a:pPr algn="l">
              <a:lnSpc>
                <a:spcPct val="130000"/>
              </a:lnSpc>
            </a:pPr>
            <a:r>
              <a:rPr sz="1300" b="0" i="0">
                <a:solidFill>
                  <a:srgbClr val="8B9CB0"/>
                </a:solidFill>
                <a:latin typeface="Calibri"/>
              </a:rPr>
              <a:t>Threshold chosen on validation for 90% sensitivity, then applied unchanged to test. Missing a case costs far more than an extra test, so specificity is what we spend.</a:t>
            </a:r>
          </a:p>
          <a:p>
            <a:pPr algn="l">
              <a:lnSpc>
                <a:spcPct val="130000"/>
              </a:lnSpc>
            </a:pPr>
            <a:r>
              <a:rPr sz="1300" b="0" i="0">
                <a:solidFill>
                  <a:srgbClr val="8B9CB0"/>
                </a:solidFill>
                <a:latin typeface="Calibri"/>
              </a:rPr>
              <a:t>Confusion: 49 true positive, 7 false positive, 54 true negative, 10 false negative.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lIns="0" rIns="0" tIns="0" bIns="0" anchor="t">
            <a:spAutoFit/>
          </a:bodyPr>
          <a:lstStyle/>
          <a:p>
            <a:pPr algn="l">
              <a:lnSpc>
                <a:spcPct val="100000"/>
              </a:lnSpc>
            </a:pPr>
            <a:r>
              <a:rPr sz="1100" b="1" i="0">
                <a:solidFill>
                  <a:srgbClr val="FBBF24"/>
                </a:solidFill>
                <a:latin typeface="Calibri"/>
              </a:rPr>
              <a:t>THE FINDING THAT MATTERS</a:t>
            </a:r>
          </a:p>
        </p:txBody>
      </p:sp>
      <p:sp>
        <p:nvSpPr>
          <p:cNvPr id="4" name="TextBox 3"/>
          <p:cNvSpPr txBox="1"/>
          <p:nvPr/>
        </p:nvSpPr>
        <p:spPr>
          <a:xfrm>
            <a:off x="640080" y="713232"/>
            <a:ext cx="10881360" cy="914400"/>
          </a:xfrm>
          <a:prstGeom prst="rect">
            <a:avLst/>
          </a:prstGeom>
          <a:noFill/>
        </p:spPr>
        <p:txBody>
          <a:bodyPr wrap="square" lIns="0" rIns="0" tIns="0" bIns="0" anchor="t">
            <a:spAutoFit/>
          </a:bodyPr>
          <a:lstStyle/>
          <a:p>
            <a:pPr algn="l">
              <a:lnSpc>
                <a:spcPct val="98000"/>
              </a:lnSpc>
            </a:pPr>
            <a:r>
              <a:rPr sz="3300" b="1" i="0">
                <a:solidFill>
                  <a:srgbClr val="E8EEF6"/>
                </a:solidFill>
                <a:latin typeface="Cambria"/>
              </a:rPr>
              <a:t>Ranking transfers. Calibration does not.</a:t>
            </a:r>
          </a:p>
        </p:txBody>
      </p:sp>
      <p:pic>
        <p:nvPicPr>
          <p:cNvPr id="5" name="Picture 4" descr="fig_calibration.png"/>
          <p:cNvPicPr>
            <a:picLocks noChangeAspect="1"/>
          </p:cNvPicPr>
          <p:nvPr/>
        </p:nvPicPr>
        <p:blipFill>
          <a:blip r:embed="rId2"/>
          <a:stretch>
            <a:fillRect/>
          </a:stretch>
        </p:blipFill>
        <p:spPr>
          <a:xfrm>
            <a:off x="2204700" y="1627632"/>
            <a:ext cx="7779550" cy="3063240"/>
          </a:xfrm>
          <a:prstGeom prst="rect">
            <a:avLst/>
          </a:prstGeom>
        </p:spPr>
      </p:pic>
      <p:sp>
        <p:nvSpPr>
          <p:cNvPr id="6" name="Rounded Rectangle 5"/>
          <p:cNvSpPr/>
          <p:nvPr/>
        </p:nvSpPr>
        <p:spPr>
          <a:xfrm>
            <a:off x="640080" y="4754880"/>
            <a:ext cx="3502152" cy="1417320"/>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4919472"/>
            <a:ext cx="3017520" cy="502920"/>
          </a:xfrm>
          <a:prstGeom prst="rect">
            <a:avLst/>
          </a:prstGeom>
          <a:noFill/>
        </p:spPr>
        <p:txBody>
          <a:bodyPr wrap="square" lIns="0" rIns="0" tIns="0" bIns="0" anchor="t">
            <a:spAutoFit/>
          </a:bodyPr>
          <a:lstStyle/>
          <a:p>
            <a:pPr algn="l">
              <a:lnSpc>
                <a:spcPct val="95000"/>
              </a:lnSpc>
            </a:pPr>
            <a:r>
              <a:rPr sz="2500" b="1" i="0">
                <a:solidFill>
                  <a:srgbClr val="22D3EE"/>
                </a:solidFill>
                <a:latin typeface="Calibri"/>
              </a:rPr>
              <a:t>0.945 → 0.898</a:t>
            </a:r>
          </a:p>
        </p:txBody>
      </p:sp>
      <p:sp>
        <p:nvSpPr>
          <p:cNvPr id="8" name="TextBox 7"/>
          <p:cNvSpPr txBox="1"/>
          <p:nvPr/>
        </p:nvSpPr>
        <p:spPr>
          <a:xfrm>
            <a:off x="896112" y="5468112"/>
            <a:ext cx="3017520" cy="640080"/>
          </a:xfrm>
          <a:prstGeom prst="rect">
            <a:avLst/>
          </a:prstGeom>
          <a:noFill/>
        </p:spPr>
        <p:txBody>
          <a:bodyPr wrap="square" lIns="0" rIns="0" tIns="0" bIns="0" anchor="t">
            <a:spAutoFit/>
          </a:bodyPr>
          <a:lstStyle/>
          <a:p>
            <a:pPr algn="l">
              <a:lnSpc>
                <a:spcPct val="120000"/>
              </a:lnSpc>
            </a:pPr>
            <a:r>
              <a:rPr sz="1150" b="0" i="0">
                <a:solidFill>
                  <a:srgbClr val="8B9CB0"/>
                </a:solidFill>
                <a:latin typeface="Calibri"/>
              </a:rPr>
              <a:t>AUROC, same site → new site. Barely moves: it is threshold-free.</a:t>
            </a:r>
          </a:p>
        </p:txBody>
      </p:sp>
      <p:sp>
        <p:nvSpPr>
          <p:cNvPr id="9" name="Rounded Rectangle 8"/>
          <p:cNvSpPr/>
          <p:nvPr/>
        </p:nvSpPr>
        <p:spPr>
          <a:xfrm>
            <a:off x="4343400" y="4754880"/>
            <a:ext cx="3502152" cy="1417320"/>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1" y="4919472"/>
            <a:ext cx="3017520" cy="502920"/>
          </a:xfrm>
          <a:prstGeom prst="rect">
            <a:avLst/>
          </a:prstGeom>
          <a:noFill/>
        </p:spPr>
        <p:txBody>
          <a:bodyPr wrap="square" lIns="0" rIns="0" tIns="0" bIns="0" anchor="t">
            <a:spAutoFit/>
          </a:bodyPr>
          <a:lstStyle/>
          <a:p>
            <a:pPr algn="l">
              <a:lnSpc>
                <a:spcPct val="95000"/>
              </a:lnSpc>
            </a:pPr>
            <a:r>
              <a:rPr sz="2500" b="1" i="0">
                <a:solidFill>
                  <a:srgbClr val="F87171"/>
                </a:solidFill>
                <a:latin typeface="Calibri"/>
              </a:rPr>
              <a:t>0.885 → 0.225</a:t>
            </a:r>
          </a:p>
        </p:txBody>
      </p:sp>
      <p:sp>
        <p:nvSpPr>
          <p:cNvPr id="11" name="TextBox 10"/>
          <p:cNvSpPr txBox="1"/>
          <p:nvPr/>
        </p:nvSpPr>
        <p:spPr>
          <a:xfrm>
            <a:off x="4599431" y="5468112"/>
            <a:ext cx="3017520" cy="640080"/>
          </a:xfrm>
          <a:prstGeom prst="rect">
            <a:avLst/>
          </a:prstGeom>
          <a:noFill/>
        </p:spPr>
        <p:txBody>
          <a:bodyPr wrap="square" lIns="0" rIns="0" tIns="0" bIns="0" anchor="t">
            <a:spAutoFit/>
          </a:bodyPr>
          <a:lstStyle/>
          <a:p>
            <a:pPr algn="l">
              <a:lnSpc>
                <a:spcPct val="120000"/>
              </a:lnSpc>
            </a:pPr>
            <a:r>
              <a:rPr sz="1150" b="0" i="0">
                <a:solidFill>
                  <a:srgbClr val="8B9CB0"/>
                </a:solidFill>
                <a:latin typeface="Calibri"/>
              </a:rPr>
              <a:t>Specificity at the same threshold. Collapses.</a:t>
            </a:r>
          </a:p>
        </p:txBody>
      </p:sp>
      <p:sp>
        <p:nvSpPr>
          <p:cNvPr id="12" name="Rounded Rectangle 11"/>
          <p:cNvSpPr/>
          <p:nvPr/>
        </p:nvSpPr>
        <p:spPr>
          <a:xfrm>
            <a:off x="8046719" y="4754880"/>
            <a:ext cx="3502152" cy="1417320"/>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02752" y="4919472"/>
            <a:ext cx="3017520" cy="502920"/>
          </a:xfrm>
          <a:prstGeom prst="rect">
            <a:avLst/>
          </a:prstGeom>
          <a:noFill/>
        </p:spPr>
        <p:txBody>
          <a:bodyPr wrap="square" lIns="0" rIns="0" tIns="0" bIns="0" anchor="t">
            <a:spAutoFit/>
          </a:bodyPr>
          <a:lstStyle/>
          <a:p>
            <a:pPr algn="l">
              <a:lnSpc>
                <a:spcPct val="95000"/>
              </a:lnSpc>
            </a:pPr>
            <a:r>
              <a:rPr sz="2500" b="1" i="0">
                <a:solidFill>
                  <a:srgbClr val="FBBF24"/>
                </a:solidFill>
                <a:latin typeface="Calibri"/>
              </a:rPr>
              <a:t>62 of 80</a:t>
            </a:r>
          </a:p>
        </p:txBody>
      </p:sp>
      <p:sp>
        <p:nvSpPr>
          <p:cNvPr id="14" name="TextBox 13"/>
          <p:cNvSpPr txBox="1"/>
          <p:nvPr/>
        </p:nvSpPr>
        <p:spPr>
          <a:xfrm>
            <a:off x="8302752" y="5468112"/>
            <a:ext cx="3017520" cy="640080"/>
          </a:xfrm>
          <a:prstGeom prst="rect">
            <a:avLst/>
          </a:prstGeom>
          <a:noFill/>
        </p:spPr>
        <p:txBody>
          <a:bodyPr wrap="square" lIns="0" rIns="0" tIns="0" bIns="0" anchor="t">
            <a:spAutoFit/>
          </a:bodyPr>
          <a:lstStyle/>
          <a:p>
            <a:pPr algn="l">
              <a:lnSpc>
                <a:spcPct val="120000"/>
              </a:lnSpc>
            </a:pPr>
            <a:r>
              <a:rPr sz="1150" b="0" i="0">
                <a:solidFill>
                  <a:srgbClr val="8B9CB0"/>
                </a:solidFill>
                <a:latin typeface="Calibri"/>
              </a:rPr>
              <a:t>healthy people sent for unnecessary testing at the new site.</a:t>
            </a:r>
          </a:p>
        </p:txBody>
      </p:sp>
      <p:sp>
        <p:nvSpPr>
          <p:cNvPr id="15" name="TextBox 14"/>
          <p:cNvSpPr txBox="1"/>
          <p:nvPr/>
        </p:nvSpPr>
        <p:spPr>
          <a:xfrm>
            <a:off x="640080" y="6364224"/>
            <a:ext cx="10881360" cy="310896"/>
          </a:xfrm>
          <a:prstGeom prst="rect">
            <a:avLst/>
          </a:prstGeom>
          <a:noFill/>
        </p:spPr>
        <p:txBody>
          <a:bodyPr wrap="square" lIns="0" rIns="0" tIns="0" bIns="0" anchor="t">
            <a:spAutoFit/>
          </a:bodyPr>
          <a:lstStyle/>
          <a:p>
            <a:pPr algn="l">
              <a:lnSpc>
                <a:spcPct val="100000"/>
              </a:lnSpc>
            </a:pPr>
            <a:r>
              <a:rPr sz="950" b="0" i="0">
                <a:solidFill>
                  <a:srgbClr val="5F7083"/>
                </a:solidFill>
                <a:latin typeface="Calibri"/>
              </a:rPr>
              <a:t>Trained on Shenzhen (China), tested on Montgomery County (USA), different scanner, population and country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lIns="0" rIns="0" tIns="0" bIns="0" anchor="t">
            <a:spAutoFit/>
          </a:bodyPr>
          <a:lstStyle/>
          <a:p>
            <a:pPr algn="l">
              <a:lnSpc>
                <a:spcPct val="100000"/>
              </a:lnSpc>
            </a:pPr>
            <a:r>
              <a:rPr sz="1100" b="1" i="0">
                <a:solidFill>
                  <a:srgbClr val="34D399"/>
                </a:solidFill>
                <a:latin typeface="Calibri"/>
              </a:rPr>
              <a:t>THE FIX</a:t>
            </a:r>
          </a:p>
        </p:txBody>
      </p:sp>
      <p:sp>
        <p:nvSpPr>
          <p:cNvPr id="4" name="TextBox 3"/>
          <p:cNvSpPr txBox="1"/>
          <p:nvPr/>
        </p:nvSpPr>
        <p:spPr>
          <a:xfrm>
            <a:off x="640080" y="713232"/>
            <a:ext cx="10881360" cy="914400"/>
          </a:xfrm>
          <a:prstGeom prst="rect">
            <a:avLst/>
          </a:prstGeom>
          <a:noFill/>
        </p:spPr>
        <p:txBody>
          <a:bodyPr wrap="square" lIns="0" rIns="0" tIns="0" bIns="0" anchor="t">
            <a:spAutoFit/>
          </a:bodyPr>
          <a:lstStyle/>
          <a:p>
            <a:pPr algn="l">
              <a:lnSpc>
                <a:spcPct val="98000"/>
              </a:lnSpc>
            </a:pPr>
            <a:r>
              <a:rPr sz="3300" b="1" i="0">
                <a:solidFill>
                  <a:srgbClr val="E8EEF6"/>
                </a:solidFill>
                <a:latin typeface="Cambria"/>
              </a:rPr>
              <a:t>Twenty locally-read films recover most of it</a:t>
            </a:r>
          </a:p>
        </p:txBody>
      </p:sp>
      <p:pic>
        <p:nvPicPr>
          <p:cNvPr id="5" name="Picture 4" descr="fig_recalibration.png"/>
          <p:cNvPicPr>
            <a:picLocks noChangeAspect="1"/>
          </p:cNvPicPr>
          <p:nvPr/>
        </p:nvPicPr>
        <p:blipFill>
          <a:blip r:embed="rId2"/>
          <a:stretch>
            <a:fillRect/>
          </a:stretch>
        </p:blipFill>
        <p:spPr>
          <a:xfrm>
            <a:off x="640080" y="1796757"/>
            <a:ext cx="6858000" cy="4178885"/>
          </a:xfrm>
          <a:prstGeom prst="rect">
            <a:avLst/>
          </a:prstGeom>
        </p:spPr>
      </p:pic>
      <p:sp>
        <p:nvSpPr>
          <p:cNvPr id="6" name="Rounded Rectangle 5"/>
          <p:cNvSpPr/>
          <p:nvPr/>
        </p:nvSpPr>
        <p:spPr>
          <a:xfrm>
            <a:off x="7726679" y="1783080"/>
            <a:ext cx="3822191" cy="2834640"/>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0" y="2084831"/>
            <a:ext cx="3200400" cy="2377440"/>
          </a:xfrm>
          <a:prstGeom prst="rect">
            <a:avLst/>
          </a:prstGeom>
          <a:noFill/>
        </p:spPr>
        <p:txBody>
          <a:bodyPr wrap="square" lIns="0" rIns="0" tIns="0" bIns="0" anchor="t">
            <a:spAutoFit/>
          </a:bodyPr>
          <a:lstStyle/>
          <a:p>
            <a:pPr algn="l">
              <a:lnSpc>
                <a:spcPct val="132000"/>
              </a:lnSpc>
            </a:pPr>
            <a:r>
              <a:rPr sz="1600" b="1" i="0">
                <a:solidFill>
                  <a:srgbClr val="E8EEF6"/>
                </a:solidFill>
                <a:latin typeface="Calibri"/>
              </a:rPr>
              <a:t>So we do not ship a number.</a:t>
            </a:r>
          </a:p>
          <a:p>
            <a:pPr algn="l">
              <a:lnSpc>
                <a:spcPct val="132000"/>
              </a:lnSpc>
            </a:pPr>
            <a:r>
              <a:rPr sz="1600" b="1" i="0">
                <a:solidFill>
                  <a:srgbClr val="34D399"/>
                </a:solidFill>
                <a:latin typeface="Calibri"/>
              </a:rPr>
              <a:t>We ship a calibration step.</a:t>
            </a:r>
          </a:p>
          <a:p>
            <a:pPr algn="l">
              <a:lnSpc>
                <a:spcPct val="132000"/>
              </a:lnSpc>
            </a:pPr>
            <a:r>
              <a:rPr sz="1250" b="0" i="0">
                <a:solidFill>
                  <a:srgbClr val="8B9CB0"/>
                </a:solidFill>
                <a:latin typeface="Calibri"/>
              </a:rPr>
              <a:t>Refitting on target-site data restores specificity to 0.688 at 0.914 sensitivity.</a:t>
            </a:r>
          </a:p>
        </p:txBody>
      </p:sp>
      <p:sp>
        <p:nvSpPr>
          <p:cNvPr id="8" name="Rounded Rectangle 7"/>
          <p:cNvSpPr/>
          <p:nvPr/>
        </p:nvSpPr>
        <p:spPr>
          <a:xfrm>
            <a:off x="7726679" y="4800600"/>
            <a:ext cx="3822191" cy="1325880"/>
          </a:xfrm>
          <a:prstGeom prst="roundRect">
            <a:avLst>
              <a:gd name="adj" fmla="val 4000"/>
            </a:avLst>
          </a:prstGeom>
          <a:solidFill>
            <a:srgbClr val="182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4983480"/>
            <a:ext cx="3291840" cy="960120"/>
          </a:xfrm>
          <a:prstGeom prst="rect">
            <a:avLst/>
          </a:prstGeom>
          <a:noFill/>
        </p:spPr>
        <p:txBody>
          <a:bodyPr wrap="square" lIns="0" rIns="0" tIns="0" bIns="0" anchor="t">
            <a:spAutoFit/>
          </a:bodyPr>
          <a:lstStyle/>
          <a:p>
            <a:pPr algn="l">
              <a:lnSpc>
                <a:spcPct val="120000"/>
              </a:lnSpc>
            </a:pPr>
            <a:r>
              <a:rPr sz="1200" b="1" i="0">
                <a:solidFill>
                  <a:srgbClr val="FBBF24"/>
                </a:solidFill>
                <a:latin typeface="Calibri"/>
              </a:rPr>
              <a:t>Deployment rule</a:t>
            </a:r>
          </a:p>
          <a:p>
            <a:pPr algn="l">
              <a:lnSpc>
                <a:spcPct val="120000"/>
              </a:lnSpc>
            </a:pPr>
            <a:r>
              <a:rPr sz="1200" b="0" i="0">
                <a:solidFill>
                  <a:srgbClr val="E8EEF6"/>
                </a:solidFill>
                <a:latin typeface="Calibri"/>
              </a:rPr>
              <a:t>Ship the model, but read 20 local films to recalibrate before trusting any decision it makes.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lIns="0" rIns="0" tIns="0" bIns="0" anchor="t">
            <a:spAutoFit/>
          </a:bodyPr>
          <a:lstStyle/>
          <a:p>
            <a:pPr algn="l">
              <a:lnSpc>
                <a:spcPct val="100000"/>
              </a:lnSpc>
            </a:pPr>
            <a:r>
              <a:rPr sz="1100" b="1" i="0">
                <a:solidFill>
                  <a:srgbClr val="F87171"/>
                </a:solidFill>
                <a:latin typeface="Calibri"/>
              </a:rPr>
              <a:t>LIMITS OF TRANSFER</a:t>
            </a:r>
          </a:p>
        </p:txBody>
      </p:sp>
      <p:sp>
        <p:nvSpPr>
          <p:cNvPr id="4" name="TextBox 3"/>
          <p:cNvSpPr txBox="1"/>
          <p:nvPr/>
        </p:nvSpPr>
        <p:spPr>
          <a:xfrm>
            <a:off x="640080" y="713232"/>
            <a:ext cx="10881360" cy="914400"/>
          </a:xfrm>
          <a:prstGeom prst="rect">
            <a:avLst/>
          </a:prstGeom>
          <a:noFill/>
        </p:spPr>
        <p:txBody>
          <a:bodyPr wrap="square" lIns="0" rIns="0" tIns="0" bIns="0" anchor="t">
            <a:spAutoFit/>
          </a:bodyPr>
          <a:lstStyle/>
          <a:p>
            <a:pPr algn="l">
              <a:lnSpc>
                <a:spcPct val="98000"/>
              </a:lnSpc>
            </a:pPr>
            <a:r>
              <a:rPr sz="3300" b="1" i="0">
                <a:solidFill>
                  <a:srgbClr val="E8EEF6"/>
                </a:solidFill>
                <a:latin typeface="Cambria"/>
              </a:rPr>
              <a:t>And then we found where it stops working</a:t>
            </a:r>
          </a:p>
        </p:txBody>
      </p:sp>
      <p:pic>
        <p:nvPicPr>
          <p:cNvPr id="5" name="Picture 4" descr="fig_transfer.png"/>
          <p:cNvPicPr>
            <a:picLocks noChangeAspect="1"/>
          </p:cNvPicPr>
          <p:nvPr/>
        </p:nvPicPr>
        <p:blipFill>
          <a:blip r:embed="rId2"/>
          <a:stretch>
            <a:fillRect/>
          </a:stretch>
        </p:blipFill>
        <p:spPr>
          <a:xfrm>
            <a:off x="640080" y="2093507"/>
            <a:ext cx="5349240" cy="3265344"/>
          </a:xfrm>
          <a:prstGeom prst="rect">
            <a:avLst/>
          </a:prstGeom>
        </p:spPr>
      </p:pic>
      <p:pic>
        <p:nvPicPr>
          <p:cNvPr id="6" name="Picture 5" descr="fig_conditions.png"/>
          <p:cNvPicPr>
            <a:picLocks noChangeAspect="1"/>
          </p:cNvPicPr>
          <p:nvPr/>
        </p:nvPicPr>
        <p:blipFill>
          <a:blip r:embed="rId3"/>
          <a:stretch>
            <a:fillRect/>
          </a:stretch>
        </p:blipFill>
        <p:spPr>
          <a:xfrm>
            <a:off x="6172200" y="1933415"/>
            <a:ext cx="5376672" cy="3585529"/>
          </a:xfrm>
          <a:prstGeom prst="rect">
            <a:avLst/>
          </a:prstGeom>
        </p:spPr>
      </p:pic>
      <p:sp>
        <p:nvSpPr>
          <p:cNvPr id="7" name="Rounded Rectangle 6"/>
          <p:cNvSpPr/>
          <p:nvPr/>
        </p:nvSpPr>
        <p:spPr>
          <a:xfrm>
            <a:off x="640080" y="5852160"/>
            <a:ext cx="10908792" cy="749808"/>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6016752"/>
            <a:ext cx="10241280" cy="475488"/>
          </a:xfrm>
          <a:prstGeom prst="rect">
            <a:avLst/>
          </a:prstGeom>
          <a:noFill/>
        </p:spPr>
        <p:txBody>
          <a:bodyPr wrap="square" lIns="0" rIns="0" tIns="0" bIns="0" anchor="t">
            <a:spAutoFit/>
          </a:bodyPr>
          <a:lstStyle/>
          <a:p>
            <a:pPr algn="l">
              <a:lnSpc>
                <a:spcPct val="115000"/>
              </a:lnSpc>
            </a:pPr>
            <a:r>
              <a:rPr sz="1350" b="1" i="0">
                <a:solidFill>
                  <a:srgbClr val="F87171"/>
                </a:solidFill>
                <a:latin typeface="Calibri"/>
              </a:rPr>
              <a:t>A discrimination failure, not a calibration one. </a:t>
            </a:r>
            <a:r>
              <a:rPr sz="1300" b="0" i="0">
                <a:solidFill>
                  <a:srgbClr val="8B9CB0"/>
                </a:solidFill>
                <a:latin typeface="Calibri"/>
              </a:rPr>
              <a:t>At a third hospital with a general population the model separates any abnormality from normal at AUROC 0.579, near chance, with several conditions below 0.5. No threshold fixes that.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lIns="0" rIns="0" tIns="0" bIns="0" anchor="t">
            <a:spAutoFit/>
          </a:bodyPr>
          <a:lstStyle/>
          <a:p>
            <a:pPr algn="l">
              <a:lnSpc>
                <a:spcPct val="100000"/>
              </a:lnSpc>
            </a:pPr>
            <a:r>
              <a:rPr sz="1100" b="1" i="0">
                <a:solidFill>
                  <a:srgbClr val="22D3EE"/>
                </a:solidFill>
                <a:latin typeface="Calibri"/>
              </a:rPr>
              <a:t>RULING OUT THE OBVIOUS EXPLANATION</a:t>
            </a:r>
          </a:p>
        </p:txBody>
      </p:sp>
      <p:sp>
        <p:nvSpPr>
          <p:cNvPr id="4" name="TextBox 3"/>
          <p:cNvSpPr txBox="1"/>
          <p:nvPr/>
        </p:nvSpPr>
        <p:spPr>
          <a:xfrm>
            <a:off x="640080" y="713232"/>
            <a:ext cx="10881360" cy="914400"/>
          </a:xfrm>
          <a:prstGeom prst="rect">
            <a:avLst/>
          </a:prstGeom>
          <a:noFill/>
        </p:spPr>
        <p:txBody>
          <a:bodyPr wrap="square" lIns="0" rIns="0" tIns="0" bIns="0" anchor="t">
            <a:spAutoFit/>
          </a:bodyPr>
          <a:lstStyle/>
          <a:p>
            <a:pPr algn="l">
              <a:lnSpc>
                <a:spcPct val="98000"/>
              </a:lnSpc>
            </a:pPr>
            <a:r>
              <a:rPr sz="3300" b="1" i="0">
                <a:solidFill>
                  <a:srgbClr val="E8EEF6"/>
                </a:solidFill>
                <a:latin typeface="Cambria"/>
              </a:rPr>
              <a:t>We checked whether it was just resolution. It wasn’t.</a:t>
            </a:r>
          </a:p>
        </p:txBody>
      </p:sp>
      <p:pic>
        <p:nvPicPr>
          <p:cNvPr id="5" name="Picture 4" descr="fig_resolution.png"/>
          <p:cNvPicPr>
            <a:picLocks noChangeAspect="1"/>
          </p:cNvPicPr>
          <p:nvPr/>
        </p:nvPicPr>
        <p:blipFill>
          <a:blip r:embed="rId2"/>
          <a:stretch>
            <a:fillRect/>
          </a:stretch>
        </p:blipFill>
        <p:spPr>
          <a:xfrm>
            <a:off x="640080" y="1864498"/>
            <a:ext cx="4937760" cy="3677643"/>
          </a:xfrm>
          <a:prstGeom prst="rect">
            <a:avLst/>
          </a:prstGeom>
        </p:spPr>
      </p:pic>
      <p:sp>
        <p:nvSpPr>
          <p:cNvPr id="6" name="Rounded Rectangle 5"/>
          <p:cNvSpPr/>
          <p:nvPr/>
        </p:nvSpPr>
        <p:spPr>
          <a:xfrm>
            <a:off x="5897880" y="1737360"/>
            <a:ext cx="5650992" cy="3931920"/>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63640" y="2057400"/>
            <a:ext cx="4937760" cy="3337560"/>
          </a:xfrm>
          <a:prstGeom prst="rect">
            <a:avLst/>
          </a:prstGeom>
          <a:noFill/>
        </p:spPr>
        <p:txBody>
          <a:bodyPr wrap="square" lIns="0" rIns="0" tIns="0" bIns="0" anchor="t">
            <a:spAutoFit/>
          </a:bodyPr>
          <a:lstStyle/>
          <a:p>
            <a:pPr algn="l">
              <a:lnSpc>
                <a:spcPct val="132000"/>
              </a:lnSpc>
            </a:pPr>
            <a:r>
              <a:rPr sz="1450" b="1" i="0">
                <a:solidFill>
                  <a:srgbClr val="E8EEF6"/>
                </a:solidFill>
                <a:latin typeface="Calibri"/>
              </a:rPr>
              <a:t>The NIH mirror stores 320px images. Ours are 512px.</a:t>
            </a:r>
          </a:p>
          <a:p>
            <a:pPr algn="l">
              <a:lnSpc>
                <a:spcPct val="132000"/>
              </a:lnSpc>
            </a:pPr>
            <a:r>
              <a:rPr sz="1300" b="0" i="0">
                <a:solidFill>
                  <a:srgbClr val="8B9CB0"/>
                </a:solidFill>
                <a:latin typeface="Calibri"/>
              </a:rPr>
              <a:t>So we degraded our own held-out films through the same pipeline, 512 to 320 and back, and re-scored them.</a:t>
            </a:r>
          </a:p>
          <a:p>
            <a:pPr algn="l">
              <a:lnSpc>
                <a:spcPct val="132000"/>
              </a:lnSpc>
            </a:pPr>
            <a:r>
              <a:rPr sz="1450" b="1" i="0">
                <a:solidFill>
                  <a:srgbClr val="22D3EE"/>
                </a:solidFill>
                <a:latin typeface="Calibri"/>
              </a:rPr>
              <a:t>AUROC moved by 0.0022 (0.944 to 0.947).</a:t>
            </a:r>
          </a:p>
          <a:p>
            <a:pPr algn="l">
              <a:lnSpc>
                <a:spcPct val="132000"/>
              </a:lnSpc>
            </a:pPr>
            <a:r>
              <a:rPr sz="1300" b="0" i="0">
                <a:solidFill>
                  <a:srgbClr val="8B9CB0"/>
                </a:solidFill>
                <a:latin typeface="Calibri"/>
              </a:rPr>
              <a:t>Resolution is not the cause. The failure is genuine site and population shift, and we only know that because we tested it.</a:t>
            </a:r>
          </a:p>
        </p:txBody>
      </p:sp>
      <p:sp>
        <p:nvSpPr>
          <p:cNvPr id="8" name="Rounded Rectangle 7"/>
          <p:cNvSpPr/>
          <p:nvPr/>
        </p:nvSpPr>
        <p:spPr>
          <a:xfrm>
            <a:off x="5897880" y="5806440"/>
            <a:ext cx="5650992" cy="749808"/>
          </a:xfrm>
          <a:prstGeom prst="roundRect">
            <a:avLst>
              <a:gd name="adj" fmla="val 4000"/>
            </a:avLst>
          </a:prstGeom>
          <a:solidFill>
            <a:srgbClr val="182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5971032"/>
            <a:ext cx="5029200" cy="475488"/>
          </a:xfrm>
          <a:prstGeom prst="rect">
            <a:avLst/>
          </a:prstGeom>
          <a:noFill/>
        </p:spPr>
        <p:txBody>
          <a:bodyPr wrap="square" lIns="0" rIns="0" tIns="0" bIns="0" anchor="t">
            <a:spAutoFit/>
          </a:bodyPr>
          <a:lstStyle/>
          <a:p>
            <a:pPr algn="l">
              <a:lnSpc>
                <a:spcPct val="115000"/>
              </a:lnSpc>
            </a:pPr>
            <a:r>
              <a:rPr sz="1250" b="1" i="0">
                <a:solidFill>
                  <a:srgbClr val="FBBF24"/>
                </a:solidFill>
                <a:latin typeface="Calibri"/>
              </a:rPr>
              <a:t>This also killed one of our own claims. </a:t>
            </a:r>
            <a:r>
              <a:rPr sz="1250" b="0" i="0">
                <a:solidFill>
                  <a:srgbClr val="8B9CB0"/>
                </a:solidFill>
                <a:latin typeface="Calibri"/>
              </a:rPr>
              <a:t>We had said it was just an “abnormal chest” detector. A general abnormality detector would not score 0.579.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lIns="0" rIns="0" tIns="0" bIns="0" anchor="t">
            <a:spAutoFit/>
          </a:bodyPr>
          <a:lstStyle/>
          <a:p>
            <a:pPr algn="l">
              <a:lnSpc>
                <a:spcPct val="100000"/>
              </a:lnSpc>
            </a:pPr>
            <a:r>
              <a:rPr sz="1100" b="1" i="0">
                <a:solidFill>
                  <a:srgbClr val="34D399"/>
                </a:solidFill>
                <a:latin typeface="Calibri"/>
              </a:rPr>
              <a:t>GENERALISING THE PIPELINE</a:t>
            </a:r>
          </a:p>
        </p:txBody>
      </p:sp>
      <p:sp>
        <p:nvSpPr>
          <p:cNvPr id="4" name="TextBox 3"/>
          <p:cNvSpPr txBox="1"/>
          <p:nvPr/>
        </p:nvSpPr>
        <p:spPr>
          <a:xfrm>
            <a:off x="640080" y="713232"/>
            <a:ext cx="10881360" cy="914400"/>
          </a:xfrm>
          <a:prstGeom prst="rect">
            <a:avLst/>
          </a:prstGeom>
          <a:noFill/>
        </p:spPr>
        <p:txBody>
          <a:bodyPr wrap="square" lIns="0" rIns="0" tIns="0" bIns="0" anchor="t">
            <a:spAutoFit/>
          </a:bodyPr>
          <a:lstStyle/>
          <a:p>
            <a:pPr algn="l">
              <a:lnSpc>
                <a:spcPct val="98000"/>
              </a:lnSpc>
            </a:pPr>
            <a:r>
              <a:rPr sz="3300" b="1" i="0">
                <a:solidFill>
                  <a:srgbClr val="E8EEF6"/>
                </a:solidFill>
                <a:latin typeface="Cambria"/>
              </a:rPr>
              <a:t>A second disease, by swapping data, not code</a:t>
            </a:r>
          </a:p>
        </p:txBody>
      </p:sp>
      <p:pic>
        <p:nvPicPr>
          <p:cNvPr id="5" name="Picture 4" descr="fig_two_conditions.png"/>
          <p:cNvPicPr>
            <a:picLocks noChangeAspect="1"/>
          </p:cNvPicPr>
          <p:nvPr/>
        </p:nvPicPr>
        <p:blipFill>
          <a:blip r:embed="rId2"/>
          <a:stretch>
            <a:fillRect/>
          </a:stretch>
        </p:blipFill>
        <p:spPr>
          <a:xfrm>
            <a:off x="640080" y="1917609"/>
            <a:ext cx="7223760" cy="3626284"/>
          </a:xfrm>
          <a:prstGeom prst="rect">
            <a:avLst/>
          </a:prstGeom>
        </p:spPr>
      </p:pic>
      <p:sp>
        <p:nvSpPr>
          <p:cNvPr id="6" name="Rounded Rectangle 5"/>
          <p:cNvSpPr/>
          <p:nvPr/>
        </p:nvSpPr>
        <p:spPr>
          <a:xfrm>
            <a:off x="8046720" y="1737360"/>
            <a:ext cx="3502152" cy="2377440"/>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39327" y="1975104"/>
            <a:ext cx="2926080" cy="1965960"/>
          </a:xfrm>
          <a:prstGeom prst="rect">
            <a:avLst/>
          </a:prstGeom>
          <a:noFill/>
        </p:spPr>
        <p:txBody>
          <a:bodyPr wrap="square" lIns="0" rIns="0" tIns="0" bIns="0" anchor="t">
            <a:spAutoFit/>
          </a:bodyPr>
          <a:lstStyle/>
          <a:p>
            <a:pPr algn="l">
              <a:lnSpc>
                <a:spcPct val="128000"/>
              </a:lnSpc>
            </a:pPr>
            <a:r>
              <a:rPr sz="1450" b="1" i="0">
                <a:solidFill>
                  <a:srgbClr val="FBBF24"/>
                </a:solidFill>
                <a:latin typeface="Calibri"/>
              </a:rPr>
              <a:t>Lung nodule / mass</a:t>
            </a:r>
          </a:p>
          <a:p>
            <a:pPr algn="l">
              <a:lnSpc>
                <a:spcPct val="128000"/>
              </a:lnSpc>
            </a:pPr>
            <a:r>
              <a:rPr sz="1200" b="0" i="0">
                <a:solidFill>
                  <a:srgbClr val="8B9CB0"/>
                </a:solidFill>
                <a:latin typeface="Calibri"/>
              </a:rPr>
              <a:t>2,214 films from 1,843 patients, NIH ChestX-ray14. Split BY PATIENT, so no patient appears in two splits.</a:t>
            </a:r>
          </a:p>
        </p:txBody>
      </p:sp>
      <p:sp>
        <p:nvSpPr>
          <p:cNvPr id="8" name="Rounded Rectangle 7"/>
          <p:cNvSpPr/>
          <p:nvPr/>
        </p:nvSpPr>
        <p:spPr>
          <a:xfrm>
            <a:off x="8046720" y="4261104"/>
            <a:ext cx="3502152" cy="1865376"/>
          </a:xfrm>
          <a:prstGeom prst="roundRect">
            <a:avLst>
              <a:gd name="adj" fmla="val 4000"/>
            </a:avLst>
          </a:prstGeom>
          <a:solidFill>
            <a:srgbClr val="131C27"/>
          </a:solidFill>
          <a:ln w="15875">
            <a:solidFill>
              <a:srgbClr val="5A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39327" y="4480560"/>
            <a:ext cx="2926080" cy="1463040"/>
          </a:xfrm>
          <a:prstGeom prst="rect">
            <a:avLst/>
          </a:prstGeom>
          <a:noFill/>
        </p:spPr>
        <p:txBody>
          <a:bodyPr wrap="square" lIns="0" rIns="0" tIns="0" bIns="0" anchor="t">
            <a:spAutoFit/>
          </a:bodyPr>
          <a:lstStyle/>
          <a:p>
            <a:pPr algn="l">
              <a:lnSpc>
                <a:spcPct val="125000"/>
              </a:lnSpc>
            </a:pPr>
            <a:r>
              <a:rPr sz="1300" b="1" i="0">
                <a:solidFill>
                  <a:srgbClr val="F87171"/>
                </a:solidFill>
                <a:latin typeface="Calibri"/>
              </a:rPr>
              <a:t>Not cancer detection</a:t>
            </a:r>
          </a:p>
          <a:p>
            <a:pPr algn="l">
              <a:lnSpc>
                <a:spcPct val="125000"/>
              </a:lnSpc>
            </a:pPr>
            <a:r>
              <a:rPr sz="1150" b="0" i="0">
                <a:solidFill>
                  <a:srgbClr val="8B9CB0"/>
                </a:solidFill>
                <a:latin typeface="Calibri"/>
              </a:rPr>
              <a:t>The dataset has no cancer label and no stage. A nodule is the finding that sends a patient for a CT, which is where malignancy gets decided.</a:t>
            </a:r>
          </a:p>
        </p:txBody>
      </p:sp>
      <p:sp>
        <p:nvSpPr>
          <p:cNvPr id="10" name="TextBox 9"/>
          <p:cNvSpPr txBox="1"/>
          <p:nvPr/>
        </p:nvSpPr>
        <p:spPr>
          <a:xfrm>
            <a:off x="640080" y="6364224"/>
            <a:ext cx="10881360" cy="310896"/>
          </a:xfrm>
          <a:prstGeom prst="rect">
            <a:avLst/>
          </a:prstGeom>
          <a:noFill/>
        </p:spPr>
        <p:txBody>
          <a:bodyPr wrap="square" lIns="0" rIns="0" tIns="0" bIns="0" anchor="t">
            <a:spAutoFit/>
          </a:bodyPr>
          <a:lstStyle/>
          <a:p>
            <a:pPr algn="l">
              <a:lnSpc>
                <a:spcPct val="100000"/>
              </a:lnSpc>
            </a:pPr>
            <a:r>
              <a:rPr sz="950" b="0" i="0">
                <a:solidFill>
                  <a:srgbClr val="5F7083"/>
                </a:solidFill>
                <a:latin typeface="Calibri"/>
              </a:rPr>
              <a:t>Patient-level splitting matters: the same patient appears in several films, and an image-level split leaks between train and test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lIns="0" rIns="0" tIns="0" bIns="0" anchor="t">
            <a:spAutoFit/>
          </a:bodyPr>
          <a:lstStyle/>
          <a:p>
            <a:pPr algn="l">
              <a:lnSpc>
                <a:spcPct val="100000"/>
              </a:lnSpc>
            </a:pPr>
            <a:r>
              <a:rPr sz="1100" b="1" i="0">
                <a:solidFill>
                  <a:srgbClr val="F87171"/>
                </a:solidFill>
                <a:latin typeface="Calibri"/>
              </a:rPr>
              <a:t>WHAT HAPPENS WHEN YOU POINT THEM AT THE WRONG FILMS</a:t>
            </a:r>
          </a:p>
        </p:txBody>
      </p:sp>
      <p:sp>
        <p:nvSpPr>
          <p:cNvPr id="4" name="TextBox 3"/>
          <p:cNvSpPr txBox="1"/>
          <p:nvPr/>
        </p:nvSpPr>
        <p:spPr>
          <a:xfrm>
            <a:off x="640080" y="713232"/>
            <a:ext cx="10881360" cy="914400"/>
          </a:xfrm>
          <a:prstGeom prst="rect">
            <a:avLst/>
          </a:prstGeom>
          <a:noFill/>
        </p:spPr>
        <p:txBody>
          <a:bodyPr wrap="square" lIns="0" rIns="0" tIns="0" bIns="0" anchor="t">
            <a:spAutoFit/>
          </a:bodyPr>
          <a:lstStyle/>
          <a:p>
            <a:pPr algn="l">
              <a:lnSpc>
                <a:spcPct val="98000"/>
              </a:lnSpc>
            </a:pPr>
            <a:r>
              <a:rPr sz="3300" b="1" i="0">
                <a:solidFill>
                  <a:srgbClr val="E8EEF6"/>
                </a:solidFill>
                <a:latin typeface="Cambria"/>
              </a:rPr>
              <a:t>Ranking survives a little. Calibration does not.</a:t>
            </a:r>
          </a:p>
        </p:txBody>
      </p:sp>
      <p:pic>
        <p:nvPicPr>
          <p:cNvPr id="5" name="Picture 4" descr="fig_cross_condition.png"/>
          <p:cNvPicPr>
            <a:picLocks noChangeAspect="1"/>
          </p:cNvPicPr>
          <p:nvPr/>
        </p:nvPicPr>
        <p:blipFill>
          <a:blip r:embed="rId2"/>
          <a:stretch>
            <a:fillRect/>
          </a:stretch>
        </p:blipFill>
        <p:spPr>
          <a:xfrm>
            <a:off x="2510116" y="1572768"/>
            <a:ext cx="7168718" cy="3886200"/>
          </a:xfrm>
          <a:prstGeom prst="rect">
            <a:avLst/>
          </a:prstGeom>
        </p:spPr>
      </p:pic>
      <p:sp>
        <p:nvSpPr>
          <p:cNvPr id="6" name="Rounded Rectangle 5"/>
          <p:cNvSpPr/>
          <p:nvPr/>
        </p:nvSpPr>
        <p:spPr>
          <a:xfrm>
            <a:off x="640080" y="5559552"/>
            <a:ext cx="10908792" cy="841248"/>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742432"/>
            <a:ext cx="10241280" cy="548640"/>
          </a:xfrm>
          <a:prstGeom prst="rect">
            <a:avLst/>
          </a:prstGeom>
          <a:noFill/>
        </p:spPr>
        <p:txBody>
          <a:bodyPr wrap="square" lIns="0" rIns="0" tIns="0" bIns="0" anchor="t">
            <a:spAutoFit/>
          </a:bodyPr>
          <a:lstStyle/>
          <a:p>
            <a:pPr algn="l">
              <a:lnSpc>
                <a:spcPct val="115000"/>
              </a:lnSpc>
            </a:pPr>
            <a:r>
              <a:rPr sz="1350" b="1" i="0">
                <a:solidFill>
                  <a:srgbClr val="FBBF24"/>
                </a:solidFill>
                <a:latin typeface="Calibri"/>
              </a:rPr>
              <a:t>A TB film scored 0.91 on the nodule model. </a:t>
            </a:r>
            <a:r>
              <a:rPr sz="1300" b="0" i="0">
                <a:solidFill>
                  <a:srgbClr val="8B9CB0"/>
                </a:solidFill>
                <a:latin typeface="Calibri"/>
              </a:rPr>
              <a:t>Not because TB resembles a nodule, but because that model flags 44% of films from that hospital even when they are completely normal - its mean score on healthy chests there (0.28) already sits above its own threshold (0.26).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lIns="0" rIns="0" tIns="0" bIns="0" anchor="t">
            <a:spAutoFit/>
          </a:bodyPr>
          <a:lstStyle/>
          <a:p>
            <a:pPr algn="l">
              <a:lnSpc>
                <a:spcPct val="100000"/>
              </a:lnSpc>
            </a:pPr>
            <a:r>
              <a:rPr sz="1100" b="1" i="0">
                <a:solidFill>
                  <a:srgbClr val="22D3EE"/>
                </a:solidFill>
                <a:latin typeface="Calibri"/>
              </a:rPr>
              <a:t>ENGINEERING FOR HONESTY</a:t>
            </a:r>
          </a:p>
        </p:txBody>
      </p:sp>
      <p:sp>
        <p:nvSpPr>
          <p:cNvPr id="4" name="TextBox 3"/>
          <p:cNvSpPr txBox="1"/>
          <p:nvPr/>
        </p:nvSpPr>
        <p:spPr>
          <a:xfrm>
            <a:off x="640080" y="713232"/>
            <a:ext cx="10881360" cy="914400"/>
          </a:xfrm>
          <a:prstGeom prst="rect">
            <a:avLst/>
          </a:prstGeom>
          <a:noFill/>
        </p:spPr>
        <p:txBody>
          <a:bodyPr wrap="square" lIns="0" rIns="0" tIns="0" bIns="0" anchor="t">
            <a:spAutoFit/>
          </a:bodyPr>
          <a:lstStyle/>
          <a:p>
            <a:pPr algn="l">
              <a:lnSpc>
                <a:spcPct val="98000"/>
              </a:lnSpc>
            </a:pPr>
            <a:r>
              <a:rPr sz="3300" b="1" i="0">
                <a:solidFill>
                  <a:srgbClr val="E8EEF6"/>
                </a:solidFill>
                <a:latin typeface="Cambria"/>
              </a:rPr>
              <a:t>The tool tells you when not to trust it</a:t>
            </a:r>
          </a:p>
        </p:txBody>
      </p:sp>
      <p:pic>
        <p:nvPicPr>
          <p:cNvPr id="5" name="Picture 4" descr="fig_decision_zones.png"/>
          <p:cNvPicPr>
            <a:picLocks noChangeAspect="1"/>
          </p:cNvPicPr>
          <p:nvPr/>
        </p:nvPicPr>
        <p:blipFill>
          <a:blip r:embed="rId2"/>
          <a:stretch>
            <a:fillRect/>
          </a:stretch>
        </p:blipFill>
        <p:spPr>
          <a:xfrm>
            <a:off x="860319" y="1600200"/>
            <a:ext cx="6508961" cy="3154680"/>
          </a:xfrm>
          <a:prstGeom prst="rect">
            <a:avLst/>
          </a:prstGeom>
        </p:spPr>
      </p:pic>
      <p:sp>
        <p:nvSpPr>
          <p:cNvPr id="6" name="Rounded Rectangle 5"/>
          <p:cNvSpPr/>
          <p:nvPr/>
        </p:nvSpPr>
        <p:spPr>
          <a:xfrm>
            <a:off x="640080" y="4956048"/>
            <a:ext cx="6949440" cy="1216152"/>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138928"/>
            <a:ext cx="6400800" cy="914400"/>
          </a:xfrm>
          <a:prstGeom prst="rect">
            <a:avLst/>
          </a:prstGeom>
          <a:noFill/>
        </p:spPr>
        <p:txBody>
          <a:bodyPr wrap="square" lIns="0" rIns="0" tIns="0" bIns="0" anchor="t">
            <a:spAutoFit/>
          </a:bodyPr>
          <a:lstStyle/>
          <a:p>
            <a:pPr algn="l">
              <a:lnSpc>
                <a:spcPct val="128000"/>
              </a:lnSpc>
            </a:pPr>
            <a:r>
              <a:rPr sz="1350" b="1" i="0">
                <a:solidFill>
                  <a:srgbClr val="38BDF8"/>
                </a:solidFill>
                <a:latin typeface="Calibri"/>
              </a:rPr>
              <a:t>Every result shows this strip.</a:t>
            </a:r>
            <a:r>
              <a:rPr sz="1250" b="0" i="0">
                <a:solidFill>
                  <a:srgbClr val="8B9CB0"/>
                </a:solidFill>
                <a:latin typeface="Calibri"/>
              </a:rPr>
              <a:t> The decision has a direction AND a confidence, so the score is placed in one of four zones with their real boundaries, against the distribution of held-out films with known labels.</a:t>
            </a:r>
          </a:p>
        </p:txBody>
      </p:sp>
      <p:sp>
        <p:nvSpPr>
          <p:cNvPr id="8" name="Rounded Rectangle 7"/>
          <p:cNvSpPr/>
          <p:nvPr/>
        </p:nvSpPr>
        <p:spPr>
          <a:xfrm>
            <a:off x="7818120" y="1737360"/>
            <a:ext cx="3730752" cy="2194560"/>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19872" y="1956816"/>
            <a:ext cx="3154680" cy="1828800"/>
          </a:xfrm>
          <a:prstGeom prst="rect">
            <a:avLst/>
          </a:prstGeom>
          <a:noFill/>
        </p:spPr>
        <p:txBody>
          <a:bodyPr wrap="square" lIns="0" rIns="0" tIns="0" bIns="0" anchor="t">
            <a:spAutoFit/>
          </a:bodyPr>
          <a:lstStyle/>
          <a:p>
            <a:pPr algn="l">
              <a:lnSpc>
                <a:spcPct val="126000"/>
              </a:lnSpc>
            </a:pPr>
            <a:r>
              <a:rPr sz="1350" b="1" i="0">
                <a:solidFill>
                  <a:srgbClr val="FBBF24"/>
                </a:solidFill>
                <a:latin typeface="Calibri"/>
              </a:rPr>
              <a:t>Out-of-distribution guard</a:t>
            </a:r>
          </a:p>
          <a:p>
            <a:pPr algn="l">
              <a:lnSpc>
                <a:spcPct val="126000"/>
              </a:lnSpc>
            </a:pPr>
            <a:r>
              <a:rPr sz="1150" b="0" i="0">
                <a:solidFill>
                  <a:srgbClr val="8B9CB0"/>
                </a:solidFill>
                <a:latin typeface="Calibri"/>
              </a:rPr>
              <a:t>Two measured signals, thresholded at the 95th percentile of 320 real films: how much attention lands outside the lung fields, and how far the image profile is from training.</a:t>
            </a:r>
          </a:p>
        </p:txBody>
      </p:sp>
      <p:sp>
        <p:nvSpPr>
          <p:cNvPr id="10" name="Rounded Rectangle 9"/>
          <p:cNvSpPr/>
          <p:nvPr/>
        </p:nvSpPr>
        <p:spPr>
          <a:xfrm>
            <a:off x="7818120" y="4078224"/>
            <a:ext cx="3730752" cy="2093976"/>
          </a:xfrm>
          <a:prstGeom prst="roundRect">
            <a:avLst>
              <a:gd name="adj" fmla="val 4000"/>
            </a:avLst>
          </a:prstGeom>
          <a:solidFill>
            <a:srgbClr val="131C27"/>
          </a:solidFill>
          <a:ln w="15875">
            <a:solidFill>
              <a:srgbClr val="5A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19872" y="4297680"/>
            <a:ext cx="3154680" cy="1737360"/>
          </a:xfrm>
          <a:prstGeom prst="rect">
            <a:avLst/>
          </a:prstGeom>
          <a:noFill/>
        </p:spPr>
        <p:txBody>
          <a:bodyPr wrap="square" lIns="0" rIns="0" tIns="0" bIns="0" anchor="t">
            <a:spAutoFit/>
          </a:bodyPr>
          <a:lstStyle/>
          <a:p>
            <a:pPr algn="l">
              <a:lnSpc>
                <a:spcPct val="125000"/>
              </a:lnSpc>
            </a:pPr>
            <a:r>
              <a:rPr sz="1300" b="1" i="0">
                <a:solidFill>
                  <a:srgbClr val="F87171"/>
                </a:solidFill>
                <a:latin typeface="Calibri"/>
              </a:rPr>
              <a:t>Why we built it</a:t>
            </a:r>
          </a:p>
          <a:p>
            <a:pPr algn="l">
              <a:lnSpc>
                <a:spcPct val="125000"/>
              </a:lnSpc>
            </a:pPr>
            <a:r>
              <a:rPr sz="1150" b="0" i="0">
                <a:solidFill>
                  <a:srgbClr val="8B9CB0"/>
                </a:solidFill>
                <a:latin typeface="Calibri"/>
              </a:rPr>
              <a:t>A radiograph pulled off the web scored 0.07 while its saliency map lit up both shoulders, where there is no lung. The score was meaningless and nothing said so. Now it refuses to present one.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lIns="0" rIns="0" tIns="0" bIns="0" anchor="t">
            <a:spAutoFit/>
          </a:bodyPr>
          <a:lstStyle/>
          <a:p>
            <a:pPr algn="l">
              <a:lnSpc>
                <a:spcPct val="100000"/>
              </a:lnSpc>
            </a:pPr>
            <a:r>
              <a:rPr sz="1100" b="1" i="0">
                <a:solidFill>
                  <a:srgbClr val="34D399"/>
                </a:solidFill>
                <a:latin typeface="Calibri"/>
              </a:rPr>
              <a:t>WHERE TO DEPLOY</a:t>
            </a:r>
          </a:p>
        </p:txBody>
      </p:sp>
      <p:sp>
        <p:nvSpPr>
          <p:cNvPr id="4" name="TextBox 3"/>
          <p:cNvSpPr txBox="1"/>
          <p:nvPr/>
        </p:nvSpPr>
        <p:spPr>
          <a:xfrm>
            <a:off x="640080" y="713232"/>
            <a:ext cx="10881360" cy="914400"/>
          </a:xfrm>
          <a:prstGeom prst="rect">
            <a:avLst/>
          </a:prstGeom>
          <a:noFill/>
        </p:spPr>
        <p:txBody>
          <a:bodyPr wrap="square" lIns="0" rIns="0" tIns="0" bIns="0" anchor="t">
            <a:spAutoFit/>
          </a:bodyPr>
          <a:lstStyle/>
          <a:p>
            <a:pPr algn="l">
              <a:lnSpc>
                <a:spcPct val="98000"/>
              </a:lnSpc>
            </a:pPr>
            <a:r>
              <a:rPr sz="3300" b="1" i="0">
                <a:solidFill>
                  <a:srgbClr val="E8EEF6"/>
                </a:solidFill>
                <a:latin typeface="Cambria"/>
              </a:rPr>
              <a:t>Prevalence is the lever, not accuracy</a:t>
            </a:r>
          </a:p>
        </p:txBody>
      </p:sp>
      <p:pic>
        <p:nvPicPr>
          <p:cNvPr id="5" name="Picture 4" descr="fig_ppv.png"/>
          <p:cNvPicPr>
            <a:picLocks noChangeAspect="1"/>
          </p:cNvPicPr>
          <p:nvPr/>
        </p:nvPicPr>
        <p:blipFill>
          <a:blip r:embed="rId2"/>
          <a:stretch>
            <a:fillRect/>
          </a:stretch>
        </p:blipFill>
        <p:spPr>
          <a:xfrm>
            <a:off x="640080" y="1681185"/>
            <a:ext cx="6675120" cy="4410029"/>
          </a:xfrm>
          <a:prstGeom prst="rect">
            <a:avLst/>
          </a:prstGeom>
        </p:spPr>
      </p:pic>
      <p:sp>
        <p:nvSpPr>
          <p:cNvPr id="6" name="Rounded Rectangle 5"/>
          <p:cNvSpPr/>
          <p:nvPr/>
        </p:nvSpPr>
        <p:spPr>
          <a:xfrm>
            <a:off x="7543800" y="1737360"/>
            <a:ext cx="4005072" cy="1755648"/>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0" y="2011680"/>
            <a:ext cx="3383280" cy="1783080"/>
          </a:xfrm>
          <a:prstGeom prst="rect">
            <a:avLst/>
          </a:prstGeom>
          <a:noFill/>
        </p:spPr>
        <p:txBody>
          <a:bodyPr wrap="square" lIns="0" rIns="0" tIns="0" bIns="0" anchor="t">
            <a:spAutoFit/>
          </a:bodyPr>
          <a:lstStyle/>
          <a:p>
            <a:pPr algn="l">
              <a:lnSpc>
                <a:spcPct val="128000"/>
              </a:lnSpc>
            </a:pPr>
            <a:r>
              <a:rPr sz="1400" b="1" i="0">
                <a:solidFill>
                  <a:srgbClr val="34D399"/>
                </a:solidFill>
                <a:latin typeface="Calibri"/>
              </a:rPr>
              <a:t>Deploy here</a:t>
            </a:r>
          </a:p>
          <a:p>
            <a:pPr algn="l">
              <a:lnSpc>
                <a:spcPct val="128000"/>
              </a:lnSpc>
            </a:pPr>
            <a:r>
              <a:rPr sz="1250" b="0" i="0">
                <a:solidFill>
                  <a:srgbClr val="8B9CB0"/>
                </a:solidFill>
                <a:latin typeface="Calibri"/>
              </a:rPr>
              <a:t>Congregate settings, prisons, shelters, mining camps. Household contact tracing. Symptomatic clinic queues.</a:t>
            </a:r>
          </a:p>
        </p:txBody>
      </p:sp>
      <p:sp>
        <p:nvSpPr>
          <p:cNvPr id="8" name="Rounded Rectangle 7"/>
          <p:cNvSpPr/>
          <p:nvPr/>
        </p:nvSpPr>
        <p:spPr>
          <a:xfrm>
            <a:off x="7543800" y="3730752"/>
            <a:ext cx="4005072" cy="1783080"/>
          </a:xfrm>
          <a:prstGeom prst="roundRect">
            <a:avLst>
              <a:gd name="adj" fmla="val 4000"/>
            </a:avLst>
          </a:prstGeom>
          <a:solidFill>
            <a:srgbClr val="131C27"/>
          </a:solidFill>
          <a:ln w="15875">
            <a:solidFill>
              <a:srgbClr val="5A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3986784"/>
            <a:ext cx="3383280" cy="1417320"/>
          </a:xfrm>
          <a:prstGeom prst="rect">
            <a:avLst/>
          </a:prstGeom>
          <a:noFill/>
        </p:spPr>
        <p:txBody>
          <a:bodyPr wrap="square" lIns="0" rIns="0" tIns="0" bIns="0" anchor="t">
            <a:spAutoFit/>
          </a:bodyPr>
          <a:lstStyle/>
          <a:p>
            <a:pPr algn="l">
              <a:lnSpc>
                <a:spcPct val="128000"/>
              </a:lnSpc>
            </a:pPr>
            <a:r>
              <a:rPr sz="1400" b="1" i="0">
                <a:solidFill>
                  <a:srgbClr val="F87171"/>
                </a:solidFill>
                <a:latin typeface="Calibri"/>
              </a:rPr>
              <a:t>Not here</a:t>
            </a:r>
          </a:p>
          <a:p>
            <a:pPr algn="l">
              <a:lnSpc>
                <a:spcPct val="128000"/>
              </a:lnSpc>
            </a:pPr>
            <a:r>
              <a:rPr sz="1250" b="0" i="0">
                <a:solidFill>
                  <a:srgbClr val="8B9CB0"/>
                </a:solidFill>
                <a:latin typeface="Calibri"/>
              </a:rPr>
              <a:t>General hospital worklists. Children, the model has only seen adults. Diagnosis of any kind, ever.</a:t>
            </a:r>
          </a:p>
        </p:txBody>
      </p:sp>
      <p:sp>
        <p:nvSpPr>
          <p:cNvPr id="10" name="TextBox 9"/>
          <p:cNvSpPr txBox="1"/>
          <p:nvPr/>
        </p:nvSpPr>
        <p:spPr>
          <a:xfrm>
            <a:off x="640080" y="6364224"/>
            <a:ext cx="10881360" cy="310896"/>
          </a:xfrm>
          <a:prstGeom prst="rect">
            <a:avLst/>
          </a:prstGeom>
          <a:noFill/>
        </p:spPr>
        <p:txBody>
          <a:bodyPr wrap="square" lIns="0" rIns="0" tIns="0" bIns="0" anchor="t">
            <a:spAutoFit/>
          </a:bodyPr>
          <a:lstStyle/>
          <a:p>
            <a:pPr algn="l">
              <a:lnSpc>
                <a:spcPct val="100000"/>
              </a:lnSpc>
            </a:pPr>
            <a:r>
              <a:rPr sz="950" b="0" i="0">
                <a:solidFill>
                  <a:srgbClr val="5F7083"/>
                </a:solidFill>
                <a:latin typeface="Calibri"/>
              </a:rPr>
              <a:t>PPV computed at sensitivity 0.90 and specificity 0.66, the cross-site, locally recalibrated operating point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lIns="0" rIns="0" tIns="0" bIns="0" anchor="t">
            <a:spAutoFit/>
          </a:bodyPr>
          <a:lstStyle/>
          <a:p>
            <a:pPr algn="l">
              <a:lnSpc>
                <a:spcPct val="100000"/>
              </a:lnSpc>
            </a:pPr>
            <a:r>
              <a:rPr sz="1100" b="1" i="0">
                <a:solidFill>
                  <a:srgbClr val="22D3EE"/>
                </a:solidFill>
                <a:latin typeface="Calibri"/>
              </a:rPr>
              <a:t>WHAT IS REAL</a:t>
            </a:r>
          </a:p>
        </p:txBody>
      </p:sp>
      <p:sp>
        <p:nvSpPr>
          <p:cNvPr id="4" name="TextBox 3"/>
          <p:cNvSpPr txBox="1"/>
          <p:nvPr/>
        </p:nvSpPr>
        <p:spPr>
          <a:xfrm>
            <a:off x="640080" y="713232"/>
            <a:ext cx="10881360" cy="914400"/>
          </a:xfrm>
          <a:prstGeom prst="rect">
            <a:avLst/>
          </a:prstGeom>
          <a:noFill/>
        </p:spPr>
        <p:txBody>
          <a:bodyPr wrap="square" lIns="0" rIns="0" tIns="0" bIns="0" anchor="t">
            <a:spAutoFit/>
          </a:bodyPr>
          <a:lstStyle/>
          <a:p>
            <a:pPr algn="l">
              <a:lnSpc>
                <a:spcPct val="98000"/>
              </a:lnSpc>
            </a:pPr>
            <a:r>
              <a:rPr sz="3300" b="1" i="0">
                <a:solidFill>
                  <a:srgbClr val="E8EEF6"/>
                </a:solidFill>
                <a:latin typeface="Cambria"/>
              </a:rPr>
              <a:t>Measured, not claimed</a:t>
            </a:r>
          </a:p>
        </p:txBody>
      </p:sp>
      <p:sp>
        <p:nvSpPr>
          <p:cNvPr id="5" name="Rounded Rectangle 4"/>
          <p:cNvSpPr/>
          <p:nvPr/>
        </p:nvSpPr>
        <p:spPr>
          <a:xfrm>
            <a:off x="640080" y="1783080"/>
            <a:ext cx="5440680" cy="3017520"/>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029968"/>
            <a:ext cx="2331720" cy="347472"/>
          </a:xfrm>
          <a:prstGeom prst="rect">
            <a:avLst/>
          </a:prstGeom>
          <a:noFill/>
        </p:spPr>
        <p:txBody>
          <a:bodyPr wrap="square" lIns="0" rIns="0" tIns="0" bIns="0" anchor="t">
            <a:spAutoFit/>
          </a:bodyPr>
          <a:lstStyle/>
          <a:p>
            <a:pPr algn="l">
              <a:lnSpc>
                <a:spcPct val="115000"/>
              </a:lnSpc>
            </a:pPr>
            <a:r>
              <a:rPr sz="1200" b="0" i="0">
                <a:solidFill>
                  <a:srgbClr val="8B9CB0"/>
                </a:solidFill>
                <a:latin typeface="Calibri"/>
              </a:rPr>
              <a:t>Radiographs</a:t>
            </a:r>
          </a:p>
        </p:txBody>
      </p:sp>
      <p:sp>
        <p:nvSpPr>
          <p:cNvPr id="7" name="TextBox 6"/>
          <p:cNvSpPr txBox="1"/>
          <p:nvPr/>
        </p:nvSpPr>
        <p:spPr>
          <a:xfrm>
            <a:off x="3337560" y="2029968"/>
            <a:ext cx="2514600" cy="347472"/>
          </a:xfrm>
          <a:prstGeom prst="rect">
            <a:avLst/>
          </a:prstGeom>
          <a:noFill/>
        </p:spPr>
        <p:txBody>
          <a:bodyPr wrap="square" lIns="0" rIns="0" tIns="0" bIns="0" anchor="t">
            <a:spAutoFit/>
          </a:bodyPr>
          <a:lstStyle/>
          <a:p>
            <a:pPr algn="l">
              <a:lnSpc>
                <a:spcPct val="115000"/>
              </a:lnSpc>
            </a:pPr>
            <a:r>
              <a:rPr sz="1200" b="1" i="0">
                <a:solidFill>
                  <a:srgbClr val="34D399"/>
                </a:solidFill>
                <a:latin typeface="Calibri"/>
              </a:rPr>
              <a:t>real, 800 films, NLM Montgomery + Shenzhen</a:t>
            </a:r>
          </a:p>
        </p:txBody>
      </p:sp>
      <p:sp>
        <p:nvSpPr>
          <p:cNvPr id="8" name="TextBox 7"/>
          <p:cNvSpPr txBox="1"/>
          <p:nvPr/>
        </p:nvSpPr>
        <p:spPr>
          <a:xfrm>
            <a:off x="960120" y="2459736"/>
            <a:ext cx="2331720" cy="347472"/>
          </a:xfrm>
          <a:prstGeom prst="rect">
            <a:avLst/>
          </a:prstGeom>
          <a:noFill/>
        </p:spPr>
        <p:txBody>
          <a:bodyPr wrap="square" lIns="0" rIns="0" tIns="0" bIns="0" anchor="t">
            <a:spAutoFit/>
          </a:bodyPr>
          <a:lstStyle/>
          <a:p>
            <a:pPr algn="l">
              <a:lnSpc>
                <a:spcPct val="115000"/>
              </a:lnSpc>
            </a:pPr>
            <a:r>
              <a:rPr sz="1200" b="0" i="0">
                <a:solidFill>
                  <a:srgbClr val="8B9CB0"/>
                </a:solidFill>
                <a:latin typeface="Calibri"/>
              </a:rPr>
              <a:t>Labels</a:t>
            </a:r>
          </a:p>
        </p:txBody>
      </p:sp>
      <p:sp>
        <p:nvSpPr>
          <p:cNvPr id="9" name="TextBox 8"/>
          <p:cNvSpPr txBox="1"/>
          <p:nvPr/>
        </p:nvSpPr>
        <p:spPr>
          <a:xfrm>
            <a:off x="3337560" y="2459736"/>
            <a:ext cx="2514600" cy="347472"/>
          </a:xfrm>
          <a:prstGeom prst="rect">
            <a:avLst/>
          </a:prstGeom>
          <a:noFill/>
        </p:spPr>
        <p:txBody>
          <a:bodyPr wrap="square" lIns="0" rIns="0" tIns="0" bIns="0" anchor="t">
            <a:spAutoFit/>
          </a:bodyPr>
          <a:lstStyle/>
          <a:p>
            <a:pPr algn="l">
              <a:lnSpc>
                <a:spcPct val="115000"/>
              </a:lnSpc>
            </a:pPr>
            <a:r>
              <a:rPr sz="1200" b="1" i="0">
                <a:solidFill>
                  <a:srgbClr val="34D399"/>
                </a:solidFill>
                <a:latin typeface="Calibri"/>
              </a:rPr>
              <a:t>real, from the datasets</a:t>
            </a:r>
          </a:p>
        </p:txBody>
      </p:sp>
      <p:sp>
        <p:nvSpPr>
          <p:cNvPr id="10" name="TextBox 9"/>
          <p:cNvSpPr txBox="1"/>
          <p:nvPr/>
        </p:nvSpPr>
        <p:spPr>
          <a:xfrm>
            <a:off x="960120" y="2889504"/>
            <a:ext cx="2331720" cy="347472"/>
          </a:xfrm>
          <a:prstGeom prst="rect">
            <a:avLst/>
          </a:prstGeom>
          <a:noFill/>
        </p:spPr>
        <p:txBody>
          <a:bodyPr wrap="square" lIns="0" rIns="0" tIns="0" bIns="0" anchor="t">
            <a:spAutoFit/>
          </a:bodyPr>
          <a:lstStyle/>
          <a:p>
            <a:pPr algn="l">
              <a:lnSpc>
                <a:spcPct val="115000"/>
              </a:lnSpc>
            </a:pPr>
            <a:r>
              <a:rPr sz="1200" b="0" i="0">
                <a:solidFill>
                  <a:srgbClr val="8B9CB0"/>
                </a:solidFill>
                <a:latin typeface="Calibri"/>
              </a:rPr>
              <a:t>Model</a:t>
            </a:r>
          </a:p>
        </p:txBody>
      </p:sp>
      <p:sp>
        <p:nvSpPr>
          <p:cNvPr id="11" name="TextBox 10"/>
          <p:cNvSpPr txBox="1"/>
          <p:nvPr/>
        </p:nvSpPr>
        <p:spPr>
          <a:xfrm>
            <a:off x="3337560" y="2889504"/>
            <a:ext cx="2514600" cy="347472"/>
          </a:xfrm>
          <a:prstGeom prst="rect">
            <a:avLst/>
          </a:prstGeom>
          <a:noFill/>
        </p:spPr>
        <p:txBody>
          <a:bodyPr wrap="square" lIns="0" rIns="0" tIns="0" bIns="0" anchor="t">
            <a:spAutoFit/>
          </a:bodyPr>
          <a:lstStyle/>
          <a:p>
            <a:pPr algn="l">
              <a:lnSpc>
                <a:spcPct val="115000"/>
              </a:lnSpc>
            </a:pPr>
            <a:r>
              <a:rPr sz="1200" b="1" i="0">
                <a:solidFill>
                  <a:srgbClr val="34D399"/>
                </a:solidFill>
                <a:latin typeface="Calibri"/>
              </a:rPr>
              <a:t>really trained, on this GPU</a:t>
            </a:r>
          </a:p>
        </p:txBody>
      </p:sp>
      <p:sp>
        <p:nvSpPr>
          <p:cNvPr id="12" name="TextBox 11"/>
          <p:cNvSpPr txBox="1"/>
          <p:nvPr/>
        </p:nvSpPr>
        <p:spPr>
          <a:xfrm>
            <a:off x="960120" y="3319272"/>
            <a:ext cx="2331720" cy="347472"/>
          </a:xfrm>
          <a:prstGeom prst="rect">
            <a:avLst/>
          </a:prstGeom>
          <a:noFill/>
        </p:spPr>
        <p:txBody>
          <a:bodyPr wrap="square" lIns="0" rIns="0" tIns="0" bIns="0" anchor="t">
            <a:spAutoFit/>
          </a:bodyPr>
          <a:lstStyle/>
          <a:p>
            <a:pPr algn="l">
              <a:lnSpc>
                <a:spcPct val="115000"/>
              </a:lnSpc>
            </a:pPr>
            <a:r>
              <a:rPr sz="1200" b="0" i="0">
                <a:solidFill>
                  <a:srgbClr val="8B9CB0"/>
                </a:solidFill>
                <a:latin typeface="Calibri"/>
              </a:rPr>
              <a:t>Metrics</a:t>
            </a:r>
          </a:p>
        </p:txBody>
      </p:sp>
      <p:sp>
        <p:nvSpPr>
          <p:cNvPr id="13" name="TextBox 12"/>
          <p:cNvSpPr txBox="1"/>
          <p:nvPr/>
        </p:nvSpPr>
        <p:spPr>
          <a:xfrm>
            <a:off x="3337560" y="3319272"/>
            <a:ext cx="2514600" cy="347472"/>
          </a:xfrm>
          <a:prstGeom prst="rect">
            <a:avLst/>
          </a:prstGeom>
          <a:noFill/>
        </p:spPr>
        <p:txBody>
          <a:bodyPr wrap="square" lIns="0" rIns="0" tIns="0" bIns="0" anchor="t">
            <a:spAutoFit/>
          </a:bodyPr>
          <a:lstStyle/>
          <a:p>
            <a:pPr algn="l">
              <a:lnSpc>
                <a:spcPct val="115000"/>
              </a:lnSpc>
            </a:pPr>
            <a:r>
              <a:rPr sz="1200" b="1" i="0">
                <a:solidFill>
                  <a:srgbClr val="34D399"/>
                </a:solidFill>
                <a:latin typeface="Calibri"/>
              </a:rPr>
              <a:t>real, held-out, bootstrap CIs</a:t>
            </a:r>
          </a:p>
        </p:txBody>
      </p:sp>
      <p:sp>
        <p:nvSpPr>
          <p:cNvPr id="14" name="TextBox 13"/>
          <p:cNvSpPr txBox="1"/>
          <p:nvPr/>
        </p:nvSpPr>
        <p:spPr>
          <a:xfrm>
            <a:off x="960120" y="3749039"/>
            <a:ext cx="2331720" cy="347472"/>
          </a:xfrm>
          <a:prstGeom prst="rect">
            <a:avLst/>
          </a:prstGeom>
          <a:noFill/>
        </p:spPr>
        <p:txBody>
          <a:bodyPr wrap="square" lIns="0" rIns="0" tIns="0" bIns="0" anchor="t">
            <a:spAutoFit/>
          </a:bodyPr>
          <a:lstStyle/>
          <a:p>
            <a:pPr algn="l">
              <a:lnSpc>
                <a:spcPct val="115000"/>
              </a:lnSpc>
            </a:pPr>
            <a:r>
              <a:rPr sz="1200" b="0" i="0">
                <a:solidFill>
                  <a:srgbClr val="8B9CB0"/>
                </a:solidFill>
                <a:latin typeface="Calibri"/>
              </a:rPr>
              <a:t>Cross-site validation</a:t>
            </a:r>
          </a:p>
        </p:txBody>
      </p:sp>
      <p:sp>
        <p:nvSpPr>
          <p:cNvPr id="15" name="TextBox 14"/>
          <p:cNvSpPr txBox="1"/>
          <p:nvPr/>
        </p:nvSpPr>
        <p:spPr>
          <a:xfrm>
            <a:off x="3337560" y="3749039"/>
            <a:ext cx="2514600" cy="347472"/>
          </a:xfrm>
          <a:prstGeom prst="rect">
            <a:avLst/>
          </a:prstGeom>
          <a:noFill/>
        </p:spPr>
        <p:txBody>
          <a:bodyPr wrap="square" lIns="0" rIns="0" tIns="0" bIns="0" anchor="t">
            <a:spAutoFit/>
          </a:bodyPr>
          <a:lstStyle/>
          <a:p>
            <a:pPr algn="l">
              <a:lnSpc>
                <a:spcPct val="115000"/>
              </a:lnSpc>
            </a:pPr>
            <a:r>
              <a:rPr sz="1200" b="1" i="0">
                <a:solidFill>
                  <a:srgbClr val="34D399"/>
                </a:solidFill>
                <a:latin typeface="Calibri"/>
              </a:rPr>
              <a:t>two sites plus one external</a:t>
            </a:r>
          </a:p>
        </p:txBody>
      </p:sp>
      <p:sp>
        <p:nvSpPr>
          <p:cNvPr id="16" name="TextBox 15"/>
          <p:cNvSpPr txBox="1"/>
          <p:nvPr/>
        </p:nvSpPr>
        <p:spPr>
          <a:xfrm>
            <a:off x="960120" y="4178808"/>
            <a:ext cx="2331720" cy="347472"/>
          </a:xfrm>
          <a:prstGeom prst="rect">
            <a:avLst/>
          </a:prstGeom>
          <a:noFill/>
        </p:spPr>
        <p:txBody>
          <a:bodyPr wrap="square" lIns="0" rIns="0" tIns="0" bIns="0" anchor="t">
            <a:spAutoFit/>
          </a:bodyPr>
          <a:lstStyle/>
          <a:p>
            <a:pPr algn="l">
              <a:lnSpc>
                <a:spcPct val="115000"/>
              </a:lnSpc>
            </a:pPr>
            <a:r>
              <a:rPr sz="1200" b="0" i="0">
                <a:solidFill>
                  <a:srgbClr val="8B9CB0"/>
                </a:solidFill>
                <a:latin typeface="Calibri"/>
              </a:rPr>
              <a:t>Transfer limits</a:t>
            </a:r>
          </a:p>
        </p:txBody>
      </p:sp>
      <p:sp>
        <p:nvSpPr>
          <p:cNvPr id="17" name="TextBox 16"/>
          <p:cNvSpPr txBox="1"/>
          <p:nvPr/>
        </p:nvSpPr>
        <p:spPr>
          <a:xfrm>
            <a:off x="3337560" y="4178808"/>
            <a:ext cx="2514600" cy="347472"/>
          </a:xfrm>
          <a:prstGeom prst="rect">
            <a:avLst/>
          </a:prstGeom>
          <a:noFill/>
        </p:spPr>
        <p:txBody>
          <a:bodyPr wrap="square" lIns="0" rIns="0" tIns="0" bIns="0" anchor="t">
            <a:spAutoFit/>
          </a:bodyPr>
          <a:lstStyle/>
          <a:p>
            <a:pPr algn="l">
              <a:lnSpc>
                <a:spcPct val="115000"/>
              </a:lnSpc>
            </a:pPr>
            <a:r>
              <a:rPr sz="1200" b="1" i="0">
                <a:solidFill>
                  <a:srgbClr val="34D399"/>
                </a:solidFill>
                <a:latin typeface="Calibri"/>
              </a:rPr>
              <a:t>measured, and stated</a:t>
            </a:r>
          </a:p>
        </p:txBody>
      </p:sp>
      <p:sp>
        <p:nvSpPr>
          <p:cNvPr id="18" name="Rounded Rectangle 17"/>
          <p:cNvSpPr/>
          <p:nvPr/>
        </p:nvSpPr>
        <p:spPr>
          <a:xfrm>
            <a:off x="6263640" y="1783080"/>
            <a:ext cx="5285232" cy="3017520"/>
          </a:xfrm>
          <a:prstGeom prst="roundRect">
            <a:avLst>
              <a:gd name="adj" fmla="val 4000"/>
            </a:avLst>
          </a:prstGeom>
          <a:solidFill>
            <a:srgbClr val="13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2029968"/>
            <a:ext cx="2377440" cy="347472"/>
          </a:xfrm>
          <a:prstGeom prst="rect">
            <a:avLst/>
          </a:prstGeom>
          <a:noFill/>
        </p:spPr>
        <p:txBody>
          <a:bodyPr wrap="square" lIns="0" rIns="0" tIns="0" bIns="0" anchor="t">
            <a:spAutoFit/>
          </a:bodyPr>
          <a:lstStyle/>
          <a:p>
            <a:pPr algn="l">
              <a:lnSpc>
                <a:spcPct val="115000"/>
              </a:lnSpc>
            </a:pPr>
            <a:r>
              <a:rPr sz="1200" b="0" i="0">
                <a:solidFill>
                  <a:srgbClr val="8B9CB0"/>
                </a:solidFill>
                <a:latin typeface="Calibri"/>
              </a:rPr>
              <a:t>Clinical validation</a:t>
            </a:r>
          </a:p>
        </p:txBody>
      </p:sp>
      <p:sp>
        <p:nvSpPr>
          <p:cNvPr id="20" name="TextBox 19"/>
          <p:cNvSpPr txBox="1"/>
          <p:nvPr/>
        </p:nvSpPr>
        <p:spPr>
          <a:xfrm>
            <a:off x="9006840" y="2029968"/>
            <a:ext cx="2286000" cy="347472"/>
          </a:xfrm>
          <a:prstGeom prst="rect">
            <a:avLst/>
          </a:prstGeom>
          <a:noFill/>
        </p:spPr>
        <p:txBody>
          <a:bodyPr wrap="square" lIns="0" rIns="0" tIns="0" bIns="0" anchor="t">
            <a:spAutoFit/>
          </a:bodyPr>
          <a:lstStyle/>
          <a:p>
            <a:pPr algn="l">
              <a:lnSpc>
                <a:spcPct val="115000"/>
              </a:lnSpc>
            </a:pPr>
            <a:r>
              <a:rPr sz="1200" b="1" i="0">
                <a:solidFill>
                  <a:srgbClr val="F87171"/>
                </a:solidFill>
                <a:latin typeface="Calibri"/>
              </a:rPr>
              <a:t>none</a:t>
            </a:r>
          </a:p>
        </p:txBody>
      </p:sp>
      <p:sp>
        <p:nvSpPr>
          <p:cNvPr id="21" name="TextBox 20"/>
          <p:cNvSpPr txBox="1"/>
          <p:nvPr/>
        </p:nvSpPr>
        <p:spPr>
          <a:xfrm>
            <a:off x="6583680" y="2459736"/>
            <a:ext cx="2377440" cy="347472"/>
          </a:xfrm>
          <a:prstGeom prst="rect">
            <a:avLst/>
          </a:prstGeom>
          <a:noFill/>
        </p:spPr>
        <p:txBody>
          <a:bodyPr wrap="square" lIns="0" rIns="0" tIns="0" bIns="0" anchor="t">
            <a:spAutoFit/>
          </a:bodyPr>
          <a:lstStyle/>
          <a:p>
            <a:pPr algn="l">
              <a:lnSpc>
                <a:spcPct val="115000"/>
              </a:lnSpc>
            </a:pPr>
            <a:r>
              <a:rPr sz="1200" b="0" i="0">
                <a:solidFill>
                  <a:srgbClr val="8B9CB0"/>
                </a:solidFill>
                <a:latin typeface="Calibri"/>
              </a:rPr>
              <a:t>Regulatory clearance</a:t>
            </a:r>
          </a:p>
        </p:txBody>
      </p:sp>
      <p:sp>
        <p:nvSpPr>
          <p:cNvPr id="22" name="TextBox 21"/>
          <p:cNvSpPr txBox="1"/>
          <p:nvPr/>
        </p:nvSpPr>
        <p:spPr>
          <a:xfrm>
            <a:off x="9006840" y="2459736"/>
            <a:ext cx="2286000" cy="347472"/>
          </a:xfrm>
          <a:prstGeom prst="rect">
            <a:avLst/>
          </a:prstGeom>
          <a:noFill/>
        </p:spPr>
        <p:txBody>
          <a:bodyPr wrap="square" lIns="0" rIns="0" tIns="0" bIns="0" anchor="t">
            <a:spAutoFit/>
          </a:bodyPr>
          <a:lstStyle/>
          <a:p>
            <a:pPr algn="l">
              <a:lnSpc>
                <a:spcPct val="115000"/>
              </a:lnSpc>
            </a:pPr>
            <a:r>
              <a:rPr sz="1200" b="1" i="0">
                <a:solidFill>
                  <a:srgbClr val="F87171"/>
                </a:solidFill>
                <a:latin typeface="Calibri"/>
              </a:rPr>
              <a:t>none</a:t>
            </a:r>
          </a:p>
        </p:txBody>
      </p:sp>
      <p:sp>
        <p:nvSpPr>
          <p:cNvPr id="23" name="TextBox 22"/>
          <p:cNvSpPr txBox="1"/>
          <p:nvPr/>
        </p:nvSpPr>
        <p:spPr>
          <a:xfrm>
            <a:off x="6583680" y="2889504"/>
            <a:ext cx="2377440" cy="347472"/>
          </a:xfrm>
          <a:prstGeom prst="rect">
            <a:avLst/>
          </a:prstGeom>
          <a:noFill/>
        </p:spPr>
        <p:txBody>
          <a:bodyPr wrap="square" lIns="0" rIns="0" tIns="0" bIns="0" anchor="t">
            <a:spAutoFit/>
          </a:bodyPr>
          <a:lstStyle/>
          <a:p>
            <a:pPr algn="l">
              <a:lnSpc>
                <a:spcPct val="115000"/>
              </a:lnSpc>
            </a:pPr>
            <a:r>
              <a:rPr sz="1200" b="0" i="0">
                <a:solidFill>
                  <a:srgbClr val="8B9CB0"/>
                </a:solidFill>
                <a:latin typeface="Calibri"/>
              </a:rPr>
              <a:t>Paediatric use</a:t>
            </a:r>
          </a:p>
        </p:txBody>
      </p:sp>
      <p:sp>
        <p:nvSpPr>
          <p:cNvPr id="24" name="TextBox 23"/>
          <p:cNvSpPr txBox="1"/>
          <p:nvPr/>
        </p:nvSpPr>
        <p:spPr>
          <a:xfrm>
            <a:off x="9006840" y="2889504"/>
            <a:ext cx="2286000" cy="347472"/>
          </a:xfrm>
          <a:prstGeom prst="rect">
            <a:avLst/>
          </a:prstGeom>
          <a:noFill/>
        </p:spPr>
        <p:txBody>
          <a:bodyPr wrap="square" lIns="0" rIns="0" tIns="0" bIns="0" anchor="t">
            <a:spAutoFit/>
          </a:bodyPr>
          <a:lstStyle/>
          <a:p>
            <a:pPr algn="l">
              <a:lnSpc>
                <a:spcPct val="115000"/>
              </a:lnSpc>
            </a:pPr>
            <a:r>
              <a:rPr sz="1200" b="1" i="0">
                <a:solidFill>
                  <a:srgbClr val="F87171"/>
                </a:solidFill>
                <a:latin typeface="Calibri"/>
              </a:rPr>
              <a:t>not supported, untested</a:t>
            </a:r>
          </a:p>
        </p:txBody>
      </p:sp>
      <p:sp>
        <p:nvSpPr>
          <p:cNvPr id="25" name="TextBox 24"/>
          <p:cNvSpPr txBox="1"/>
          <p:nvPr/>
        </p:nvSpPr>
        <p:spPr>
          <a:xfrm>
            <a:off x="6583680" y="3319272"/>
            <a:ext cx="2377440" cy="347472"/>
          </a:xfrm>
          <a:prstGeom prst="rect">
            <a:avLst/>
          </a:prstGeom>
          <a:noFill/>
        </p:spPr>
        <p:txBody>
          <a:bodyPr wrap="square" lIns="0" rIns="0" tIns="0" bIns="0" anchor="t">
            <a:spAutoFit/>
          </a:bodyPr>
          <a:lstStyle/>
          <a:p>
            <a:pPr algn="l">
              <a:lnSpc>
                <a:spcPct val="115000"/>
              </a:lnSpc>
            </a:pPr>
            <a:r>
              <a:rPr sz="1200" b="0" i="0">
                <a:solidFill>
                  <a:srgbClr val="8B9CB0"/>
                </a:solidFill>
                <a:latin typeface="Calibri"/>
              </a:rPr>
              <a:t>Diagnosis</a:t>
            </a:r>
          </a:p>
        </p:txBody>
      </p:sp>
      <p:sp>
        <p:nvSpPr>
          <p:cNvPr id="26" name="TextBox 25"/>
          <p:cNvSpPr txBox="1"/>
          <p:nvPr/>
        </p:nvSpPr>
        <p:spPr>
          <a:xfrm>
            <a:off x="9006840" y="3319272"/>
            <a:ext cx="2286000" cy="347472"/>
          </a:xfrm>
          <a:prstGeom prst="rect">
            <a:avLst/>
          </a:prstGeom>
          <a:noFill/>
        </p:spPr>
        <p:txBody>
          <a:bodyPr wrap="square" lIns="0" rIns="0" tIns="0" bIns="0" anchor="t">
            <a:spAutoFit/>
          </a:bodyPr>
          <a:lstStyle/>
          <a:p>
            <a:pPr algn="l">
              <a:lnSpc>
                <a:spcPct val="115000"/>
              </a:lnSpc>
            </a:pPr>
            <a:r>
              <a:rPr sz="1200" b="1" i="0">
                <a:solidFill>
                  <a:srgbClr val="F87171"/>
                </a:solidFill>
                <a:latin typeface="Calibri"/>
              </a:rPr>
              <a:t>not what this does</a:t>
            </a:r>
          </a:p>
        </p:txBody>
      </p:sp>
      <p:sp>
        <p:nvSpPr>
          <p:cNvPr id="27" name="TextBox 26"/>
          <p:cNvSpPr txBox="1"/>
          <p:nvPr/>
        </p:nvSpPr>
        <p:spPr>
          <a:xfrm>
            <a:off x="6583680" y="3749039"/>
            <a:ext cx="2377440" cy="347472"/>
          </a:xfrm>
          <a:prstGeom prst="rect">
            <a:avLst/>
          </a:prstGeom>
          <a:noFill/>
        </p:spPr>
        <p:txBody>
          <a:bodyPr wrap="square" lIns="0" rIns="0" tIns="0" bIns="0" anchor="t">
            <a:spAutoFit/>
          </a:bodyPr>
          <a:lstStyle/>
          <a:p>
            <a:pPr algn="l">
              <a:lnSpc>
                <a:spcPct val="115000"/>
              </a:lnSpc>
            </a:pPr>
            <a:r>
              <a:rPr sz="1200" b="0" i="0">
                <a:solidFill>
                  <a:srgbClr val="8B9CB0"/>
                </a:solidFill>
                <a:latin typeface="Calibri"/>
              </a:rPr>
              <a:t>General worklists</a:t>
            </a:r>
          </a:p>
        </p:txBody>
      </p:sp>
      <p:sp>
        <p:nvSpPr>
          <p:cNvPr id="28" name="TextBox 27"/>
          <p:cNvSpPr txBox="1"/>
          <p:nvPr/>
        </p:nvSpPr>
        <p:spPr>
          <a:xfrm>
            <a:off x="9006840" y="3749039"/>
            <a:ext cx="2286000" cy="347472"/>
          </a:xfrm>
          <a:prstGeom prst="rect">
            <a:avLst/>
          </a:prstGeom>
          <a:noFill/>
        </p:spPr>
        <p:txBody>
          <a:bodyPr wrap="square" lIns="0" rIns="0" tIns="0" bIns="0" anchor="t">
            <a:spAutoFit/>
          </a:bodyPr>
          <a:lstStyle/>
          <a:p>
            <a:pPr algn="l">
              <a:lnSpc>
                <a:spcPct val="115000"/>
              </a:lnSpc>
            </a:pPr>
            <a:r>
              <a:rPr sz="1200" b="1" i="0">
                <a:solidFill>
                  <a:srgbClr val="F87171"/>
                </a:solidFill>
                <a:latin typeface="Calibri"/>
              </a:rPr>
              <a:t>measured as unsuitable</a:t>
            </a:r>
          </a:p>
        </p:txBody>
      </p:sp>
      <p:sp>
        <p:nvSpPr>
          <p:cNvPr id="29" name="Rounded Rectangle 28"/>
          <p:cNvSpPr/>
          <p:nvPr/>
        </p:nvSpPr>
        <p:spPr>
          <a:xfrm>
            <a:off x="640080" y="5029200"/>
            <a:ext cx="10908792" cy="1097280"/>
          </a:xfrm>
          <a:prstGeom prst="roundRect">
            <a:avLst>
              <a:gd name="adj" fmla="val 4000"/>
            </a:avLst>
          </a:prstGeom>
          <a:solidFill>
            <a:srgbClr val="182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230368"/>
            <a:ext cx="10149840" cy="731520"/>
          </a:xfrm>
          <a:prstGeom prst="rect">
            <a:avLst/>
          </a:prstGeom>
          <a:noFill/>
        </p:spPr>
        <p:txBody>
          <a:bodyPr wrap="square" lIns="0" rIns="0" tIns="0" bIns="0" anchor="t">
            <a:spAutoFit/>
          </a:bodyPr>
          <a:lstStyle/>
          <a:p>
            <a:pPr algn="l">
              <a:lnSpc>
                <a:spcPct val="130000"/>
              </a:lnSpc>
            </a:pPr>
            <a:r>
              <a:rPr sz="1600" b="1" i="0">
                <a:solidFill>
                  <a:srgbClr val="E8EEF6"/>
                </a:solidFill>
                <a:latin typeface="Calibri"/>
              </a:rPr>
              <a:t>We found the boundary of where our model works, and the experiment that proves it is not an artifact.</a:t>
            </a:r>
          </a:p>
          <a:p>
            <a:pPr algn="l">
              <a:lnSpc>
                <a:spcPct val="130000"/>
              </a:lnSpc>
            </a:pPr>
            <a:r>
              <a:rPr sz="1350" b="0" i="0">
                <a:solidFill>
                  <a:srgbClr val="8B9CB0"/>
                </a:solidFill>
                <a:latin typeface="Calibri"/>
              </a:rPr>
              <a:t>That is the contribution. The accuracy number is the easy part.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